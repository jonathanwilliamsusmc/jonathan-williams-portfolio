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14"/>
  </p:notesMasterIdLst>
  <p:sldIdLst>
    <p:sldId id="256" r:id="rId2"/>
    <p:sldId id="257" r:id="rId3"/>
    <p:sldId id="258" r:id="rId4"/>
    <p:sldId id="259" r:id="rId5"/>
    <p:sldId id="261" r:id="rId6"/>
    <p:sldId id="262" r:id="rId7"/>
    <p:sldId id="265" r:id="rId8"/>
    <p:sldId id="260" r:id="rId9"/>
    <p:sldId id="266" r:id="rId10"/>
    <p:sldId id="267"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34" autoAdjust="0"/>
    <p:restoredTop sz="35114" autoAdjust="0"/>
  </p:normalViewPr>
  <p:slideViewPr>
    <p:cSldViewPr snapToGrid="0">
      <p:cViewPr>
        <p:scale>
          <a:sx n="116" d="100"/>
          <a:sy n="116" d="100"/>
        </p:scale>
        <p:origin x="1440" y="-2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39448-DFD6-41B1-8059-F3AEE36AFA36}" type="datetimeFigureOut">
              <a:rPr lang="en-US" smtClean="0"/>
              <a:t>2/19/26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727AC1-B27D-40B6-AF57-2C90554DD7B2}" type="slidenum">
              <a:rPr lang="en-US" smtClean="0"/>
              <a:t>‹#›</a:t>
            </a:fld>
            <a:endParaRPr lang="en-US"/>
          </a:p>
        </p:txBody>
      </p:sp>
    </p:spTree>
    <p:extLst>
      <p:ext uri="{BB962C8B-B14F-4D97-AF65-F5344CB8AC3E}">
        <p14:creationId xmlns:p14="http://schemas.microsoft.com/office/powerpoint/2010/main" val="1255639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_C-vGu2mL38"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wallstreetmojo.com/porters-five-force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wallstreetmojo.com/porters-five-force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coursera.org/articles/human-resource-management"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hubstaff.com/blog/how-to-outsource-human-resources/"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dol.gov/agencies/odep/publications/fact-sheets/employment-laws-overview-and-resources-for-employer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effectLst/>
            </a:endParaRPr>
          </a:p>
          <a:p>
            <a:endParaRPr lang="en-US" dirty="0"/>
          </a:p>
          <a:p>
            <a:endParaRPr lang="en-US" dirty="0"/>
          </a:p>
        </p:txBody>
      </p:sp>
      <p:sp>
        <p:nvSpPr>
          <p:cNvPr id="4" name="Slide Number Placeholder 3"/>
          <p:cNvSpPr>
            <a:spLocks noGrp="1"/>
          </p:cNvSpPr>
          <p:nvPr>
            <p:ph type="sldNum" sz="quarter" idx="5"/>
          </p:nvPr>
        </p:nvSpPr>
        <p:spPr/>
        <p:txBody>
          <a:bodyPr/>
          <a:lstStyle/>
          <a:p>
            <a:fld id="{3D727AC1-B27D-40B6-AF57-2C90554DD7B2}" type="slidenum">
              <a:rPr lang="en-US" smtClean="0"/>
              <a:t>1</a:t>
            </a:fld>
            <a:endParaRPr lang="en-US"/>
          </a:p>
        </p:txBody>
      </p:sp>
    </p:spTree>
    <p:extLst>
      <p:ext uri="{BB962C8B-B14F-4D97-AF65-F5344CB8AC3E}">
        <p14:creationId xmlns:p14="http://schemas.microsoft.com/office/powerpoint/2010/main" val="3748573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727AC1-B27D-40B6-AF57-2C90554DD7B2}" type="slidenum">
              <a:rPr lang="en-US" smtClean="0"/>
              <a:t>2</a:t>
            </a:fld>
            <a:endParaRPr lang="en-US"/>
          </a:p>
        </p:txBody>
      </p:sp>
    </p:spTree>
    <p:extLst>
      <p:ext uri="{BB962C8B-B14F-4D97-AF65-F5344CB8AC3E}">
        <p14:creationId xmlns:p14="http://schemas.microsoft.com/office/powerpoint/2010/main" val="3746706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AED90-0D30-B9EA-E61C-E807106F1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71A5A-BA64-6178-A398-568625B255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EEEFA-3144-583D-595D-16C3A954188C}"/>
              </a:ext>
            </a:extLst>
          </p:cNvPr>
          <p:cNvSpPr>
            <a:spLocks noGrp="1"/>
          </p:cNvSpPr>
          <p:nvPr>
            <p:ph type="body" idx="1"/>
          </p:nvPr>
        </p:nvSpPr>
        <p:spPr/>
        <p:txBody>
          <a:bodyPr/>
          <a:lstStyle/>
          <a:p>
            <a:r>
              <a:rPr lang="en-US" dirty="0">
                <a:effectLst/>
              </a:rPr>
              <a:t>When starting out, Fidelis Strategic Consulting Group’s biggest challenge is earning credibility. Because we offer expertise rather than products, trust is key to making sales. Without case studies or testimonials, potential clients may hesitate to work with us.</a:t>
            </a:r>
          </a:p>
          <a:p>
            <a:endParaRPr lang="en-US" dirty="0">
              <a:effectLst/>
            </a:endParaRPr>
          </a:p>
          <a:p>
            <a:r>
              <a:rPr lang="en-US" dirty="0">
                <a:effectLst/>
              </a:rPr>
              <a:t>To solve this, I will reach out to my professional contacts and offer pilot consulting projects at a lower price. In exchange, I will request testimonials and data that highlight the results of my work.</a:t>
            </a:r>
          </a:p>
          <a:p>
            <a:endParaRPr lang="en-US" dirty="0">
              <a:effectLst/>
            </a:endParaRPr>
          </a:p>
          <a:p>
            <a:r>
              <a:rPr lang="en-US" dirty="0">
                <a:effectLst/>
              </a:rPr>
              <a:t>According to Harvard Business Review (2019), strong business models clearly define their value and test it early to reduce risk. By showing real improvements for my first clients, I can build evidence and a good reputation while keeping financial risk low. This approach helps create early momentum and shows there is demand before I invest more in marketing.</a:t>
            </a:r>
          </a:p>
          <a:p>
            <a:endParaRPr lang="en-US" dirty="0">
              <a:effectLst/>
            </a:endParaRPr>
          </a:p>
          <a:p>
            <a:endParaRPr lang="en-US" dirty="0">
              <a:effectLst/>
            </a:endParaRPr>
          </a:p>
          <a:p>
            <a:r>
              <a:rPr lang="en-US" dirty="0"/>
              <a:t>Reference:</a:t>
            </a:r>
          </a:p>
          <a:p>
            <a:endParaRPr lang="en-US" dirty="0"/>
          </a:p>
          <a:p>
            <a:r>
              <a:rPr lang="en-US" dirty="0"/>
              <a:t>Harvard Business Review. (2019, July 2). </a:t>
            </a:r>
            <a:r>
              <a:rPr lang="en-US" i="1" dirty="0"/>
              <a:t>The explainer: What is a business model?</a:t>
            </a:r>
            <a:r>
              <a:rPr lang="en-US" dirty="0"/>
              <a:t> [Video]. YouTube. </a:t>
            </a:r>
            <a:r>
              <a:rPr lang="en-US" dirty="0">
                <a:hlinkClick r:id="rId3"/>
              </a:rPr>
              <a:t>https://www.youtube.com/watch?v=_C-vGu2mL38</a:t>
            </a:r>
            <a:endParaRPr lang="en-US" dirty="0"/>
          </a:p>
        </p:txBody>
      </p:sp>
      <p:sp>
        <p:nvSpPr>
          <p:cNvPr id="4" name="Slide Number Placeholder 3">
            <a:extLst>
              <a:ext uri="{FF2B5EF4-FFF2-40B4-BE49-F238E27FC236}">
                <a16:creationId xmlns:a16="http://schemas.microsoft.com/office/drawing/2014/main" id="{91CE3840-93A5-E1E4-D0C7-985D9577C732}"/>
              </a:ext>
            </a:extLst>
          </p:cNvPr>
          <p:cNvSpPr>
            <a:spLocks noGrp="1"/>
          </p:cNvSpPr>
          <p:nvPr>
            <p:ph type="sldNum" sz="quarter" idx="5"/>
          </p:nvPr>
        </p:nvSpPr>
        <p:spPr/>
        <p:txBody>
          <a:bodyPr/>
          <a:lstStyle/>
          <a:p>
            <a:fld id="{3D727AC1-B27D-40B6-AF57-2C90554DD7B2}" type="slidenum">
              <a:rPr lang="en-US" smtClean="0"/>
              <a:t>3</a:t>
            </a:fld>
            <a:endParaRPr lang="en-US"/>
          </a:p>
        </p:txBody>
      </p:sp>
    </p:spTree>
    <p:extLst>
      <p:ext uri="{BB962C8B-B14F-4D97-AF65-F5344CB8AC3E}">
        <p14:creationId xmlns:p14="http://schemas.microsoft.com/office/powerpoint/2010/main" val="722301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CF7B9-E78C-364D-037C-7BA4C093B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FFF91-1902-DF1B-FB1A-9924923CF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205F60-A8B4-BFC1-FD0A-61C43A81B9C6}"/>
              </a:ext>
            </a:extLst>
          </p:cNvPr>
          <p:cNvSpPr>
            <a:spLocks noGrp="1"/>
          </p:cNvSpPr>
          <p:nvPr>
            <p:ph type="body" idx="1"/>
          </p:nvPr>
        </p:nvSpPr>
        <p:spPr/>
        <p:txBody>
          <a:bodyPr/>
          <a:lstStyle/>
          <a:p>
            <a:r>
              <a:rPr lang="en-US" dirty="0">
                <a:effectLst/>
              </a:rPr>
              <a:t>As our company gets bigger, we have a new challenge to tackle: managing our workload. Consulting takes a lot of time, and if more clients come in without a clear plan, our service quality might drop.</a:t>
            </a:r>
          </a:p>
          <a:p>
            <a:r>
              <a:rPr lang="en-US" dirty="0">
                <a:effectLst/>
              </a:rPr>
              <a:t>I’ve decided to organize the company into clear departments: Operations Consulting, Leadership Development, Compliance Advisory, and Administrative Support. This will help everyone know their roles and responsibilities.</a:t>
            </a:r>
          </a:p>
          <a:p>
            <a:endParaRPr lang="en-US" dirty="0">
              <a:effectLst/>
            </a:endParaRPr>
          </a:p>
          <a:p>
            <a:r>
              <a:rPr lang="en-US" dirty="0">
                <a:effectLst/>
              </a:rPr>
              <a:t>Chapter 7 explains that grouping employees by their skills makes organizations more efficient as they grow. This way, specialists can focus on what they do best, helping us keep our services consistent and scalable.</a:t>
            </a:r>
          </a:p>
          <a:p>
            <a:endParaRPr lang="en-US" dirty="0">
              <a:effectLst/>
            </a:endParaRPr>
          </a:p>
          <a:p>
            <a:r>
              <a:rPr lang="en-US" dirty="0">
                <a:effectLst/>
              </a:rPr>
              <a:t>I’ll also start creating standard operating procedures (SOPs) to make our consulting processes easy to repeat.</a:t>
            </a:r>
          </a:p>
          <a:p>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OpenStax. (n.d.). </a:t>
            </a:r>
            <a:r>
              <a:rPr lang="en-US" i="1" dirty="0"/>
              <a:t>Principles of business</a:t>
            </a:r>
            <a:r>
              <a:rPr lang="en-US" dirty="0"/>
              <a:t>. OpenStax. </a:t>
            </a:r>
            <a:r>
              <a:rPr lang="en-US" dirty="0">
                <a:hlinkClick r:id="rId3"/>
              </a:rPr>
              <a:t>https://openstax.org</a:t>
            </a:r>
            <a:endParaRPr lang="en-US" dirty="0"/>
          </a:p>
          <a:p>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43527E90-719A-64E7-2465-76E33C21AF1F}"/>
              </a:ext>
            </a:extLst>
          </p:cNvPr>
          <p:cNvSpPr>
            <a:spLocks noGrp="1"/>
          </p:cNvSpPr>
          <p:nvPr>
            <p:ph type="sldNum" sz="quarter" idx="5"/>
          </p:nvPr>
        </p:nvSpPr>
        <p:spPr/>
        <p:txBody>
          <a:bodyPr/>
          <a:lstStyle/>
          <a:p>
            <a:fld id="{3D727AC1-B27D-40B6-AF57-2C90554DD7B2}" type="slidenum">
              <a:rPr lang="en-US" smtClean="0"/>
              <a:t>4</a:t>
            </a:fld>
            <a:endParaRPr lang="en-US"/>
          </a:p>
        </p:txBody>
      </p:sp>
    </p:spTree>
    <p:extLst>
      <p:ext uri="{BB962C8B-B14F-4D97-AF65-F5344CB8AC3E}">
        <p14:creationId xmlns:p14="http://schemas.microsoft.com/office/powerpoint/2010/main" val="3300694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E33C4-DA8B-FEA6-C549-43091F564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3B73A-F84A-ECF4-F3C0-EA84173AC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4882B-E211-D000-B886-7D44422F454F}"/>
              </a:ext>
            </a:extLst>
          </p:cNvPr>
          <p:cNvSpPr>
            <a:spLocks noGrp="1"/>
          </p:cNvSpPr>
          <p:nvPr>
            <p:ph type="body" idx="1"/>
          </p:nvPr>
        </p:nvSpPr>
        <p:spPr/>
        <p:txBody>
          <a:bodyPr/>
          <a:lstStyle/>
          <a:p>
            <a:r>
              <a:rPr lang="en-US" dirty="0">
                <a:effectLst/>
              </a:rPr>
              <a:t>As the market grows, competition gets tougher. Many consulting firms try to stand out by lowering prices or focusing on certain specialties.</a:t>
            </a:r>
          </a:p>
          <a:p>
            <a:endParaRPr lang="en-US" dirty="0">
              <a:effectLst/>
            </a:endParaRPr>
          </a:p>
          <a:p>
            <a:r>
              <a:rPr lang="en-US" dirty="0">
                <a:effectLst/>
              </a:rPr>
              <a:t>I want FSCG to stand out by helping small businesses run better and lead their teams more effectively. Rather than competing with every firm, FSCG will be known for being organized and having a clear plan.</a:t>
            </a:r>
          </a:p>
          <a:p>
            <a:endParaRPr lang="en-US" dirty="0">
              <a:effectLst/>
            </a:endParaRPr>
          </a:p>
          <a:p>
            <a:r>
              <a:rPr lang="en-US" dirty="0">
                <a:effectLst/>
              </a:rPr>
              <a:t>Porter’s Five Forces analysis (Mehta, 2024) shows that competition rises as industries mature. By offering specialized expertise, a firm can lower buyer power and avoid competing just on price.</a:t>
            </a:r>
          </a:p>
          <a:p>
            <a:r>
              <a:rPr lang="en-US" dirty="0">
                <a:effectLst/>
              </a:rPr>
              <a:t>If the firm stays organized and delivers clear, measurable results, it can keep its advantage over competitors.</a:t>
            </a:r>
          </a:p>
          <a:p>
            <a:endParaRPr lang="en-US" dirty="0">
              <a:effectLst/>
            </a:endParaRPr>
          </a:p>
          <a:p>
            <a:r>
              <a:rPr lang="en-US" dirty="0">
                <a:effectLst/>
              </a:rPr>
              <a:t>Reference:</a:t>
            </a:r>
          </a:p>
          <a:p>
            <a:r>
              <a:rPr lang="en-US" dirty="0"/>
              <a:t>Mehta, K. (2024, April 12). </a:t>
            </a:r>
            <a:r>
              <a:rPr lang="en-US" i="1" dirty="0"/>
              <a:t>Porter’s five forces – Definition, explained, example, model</a:t>
            </a:r>
            <a:r>
              <a:rPr lang="en-US" dirty="0"/>
              <a:t>. </a:t>
            </a:r>
            <a:r>
              <a:rPr lang="en-US" dirty="0" err="1"/>
              <a:t>WallStreetMojo</a:t>
            </a:r>
            <a:r>
              <a:rPr lang="en-US" dirty="0"/>
              <a:t>. </a:t>
            </a:r>
            <a:r>
              <a:rPr lang="en-US" dirty="0">
                <a:hlinkClick r:id="rId3"/>
              </a:rPr>
              <a:t>https://www.wallstreetmojo.com/porters-five-forces/</a:t>
            </a:r>
            <a:endParaRPr lang="en-US" dirty="0">
              <a:effectLst/>
            </a:endParaRPr>
          </a:p>
          <a:p>
            <a:endParaRPr lang="en-US" dirty="0">
              <a:effectLst/>
            </a:endParaRPr>
          </a:p>
          <a:p>
            <a:endParaRPr lang="en-US" dirty="0">
              <a:effectLst/>
            </a:endParaRPr>
          </a:p>
          <a:p>
            <a:endParaRPr lang="en-US" dirty="0"/>
          </a:p>
        </p:txBody>
      </p:sp>
      <p:sp>
        <p:nvSpPr>
          <p:cNvPr id="4" name="Slide Number Placeholder 3">
            <a:extLst>
              <a:ext uri="{FF2B5EF4-FFF2-40B4-BE49-F238E27FC236}">
                <a16:creationId xmlns:a16="http://schemas.microsoft.com/office/drawing/2014/main" id="{13B94E59-FD6E-3F4C-C0C6-A866EA0C41FA}"/>
              </a:ext>
            </a:extLst>
          </p:cNvPr>
          <p:cNvSpPr>
            <a:spLocks noGrp="1"/>
          </p:cNvSpPr>
          <p:nvPr>
            <p:ph type="sldNum" sz="quarter" idx="5"/>
          </p:nvPr>
        </p:nvSpPr>
        <p:spPr/>
        <p:txBody>
          <a:bodyPr/>
          <a:lstStyle/>
          <a:p>
            <a:fld id="{3D727AC1-B27D-40B6-AF57-2C90554DD7B2}" type="slidenum">
              <a:rPr lang="en-US" smtClean="0"/>
              <a:t>5</a:t>
            </a:fld>
            <a:endParaRPr lang="en-US"/>
          </a:p>
        </p:txBody>
      </p:sp>
    </p:spTree>
    <p:extLst>
      <p:ext uri="{BB962C8B-B14F-4D97-AF65-F5344CB8AC3E}">
        <p14:creationId xmlns:p14="http://schemas.microsoft.com/office/powerpoint/2010/main" val="983958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BF9EE-5D98-1185-A9E6-1847E25AA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DC426-7926-5527-C926-027F97136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7FB47-61F6-839A-0C98-7A5FFB848095}"/>
              </a:ext>
            </a:extLst>
          </p:cNvPr>
          <p:cNvSpPr>
            <a:spLocks noGrp="1"/>
          </p:cNvSpPr>
          <p:nvPr>
            <p:ph type="body" idx="1"/>
          </p:nvPr>
        </p:nvSpPr>
        <p:spPr/>
        <p:txBody>
          <a:bodyPr/>
          <a:lstStyle/>
          <a:p>
            <a:r>
              <a:rPr lang="en-US" dirty="0">
                <a:effectLst/>
              </a:rPr>
              <a:t>If the economy slows and consulting demand drops, I would shift focus to corporate training and subscription-based leadership development programs.</a:t>
            </a:r>
          </a:p>
          <a:p>
            <a:endParaRPr lang="en-US" dirty="0">
              <a:effectLst/>
            </a:endParaRPr>
          </a:p>
          <a:p>
            <a:r>
              <a:rPr lang="en-US" dirty="0">
                <a:effectLst/>
              </a:rPr>
              <a:t>This approach builds steady, recurring revenue instead of relying on one-time consulting projects.</a:t>
            </a:r>
          </a:p>
          <a:p>
            <a:endParaRPr lang="en-US" dirty="0">
              <a:effectLst/>
            </a:endParaRPr>
          </a:p>
          <a:p>
            <a:r>
              <a:rPr lang="en-US" dirty="0">
                <a:effectLst/>
              </a:rPr>
              <a:t>OpenStax Chapter 5 notes that having different sources of revenue makes a business more sustainable. By offering workshops, online modules, and retainer-based advisory services, FSCG can keep its income steady during tough times.</a:t>
            </a:r>
          </a:p>
          <a:p>
            <a:endParaRPr lang="en-US" dirty="0">
              <a:effectLst/>
            </a:endParaRPr>
          </a:p>
          <a:p>
            <a:r>
              <a:rPr lang="en-US" dirty="0">
                <a:effectLst/>
              </a:rPr>
              <a:t>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OpenStax. (n.d.). </a:t>
            </a:r>
            <a:r>
              <a:rPr lang="en-US" i="1" dirty="0"/>
              <a:t>Principles of business</a:t>
            </a:r>
            <a:r>
              <a:rPr lang="en-US" dirty="0"/>
              <a:t> (Chapter 5). OpenStax. </a:t>
            </a:r>
            <a:r>
              <a:rPr lang="en-US" dirty="0">
                <a:hlinkClick r:id="rId3"/>
              </a:rPr>
              <a:t>https://openstax.org</a:t>
            </a:r>
            <a:endParaRPr lang="en-US" dirty="0"/>
          </a:p>
          <a:p>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5B47B7CA-D274-21C2-7D1F-60B76BEDB692}"/>
              </a:ext>
            </a:extLst>
          </p:cNvPr>
          <p:cNvSpPr>
            <a:spLocks noGrp="1"/>
          </p:cNvSpPr>
          <p:nvPr>
            <p:ph type="sldNum" sz="quarter" idx="5"/>
          </p:nvPr>
        </p:nvSpPr>
        <p:spPr/>
        <p:txBody>
          <a:bodyPr/>
          <a:lstStyle/>
          <a:p>
            <a:fld id="{3D727AC1-B27D-40B6-AF57-2C90554DD7B2}" type="slidenum">
              <a:rPr lang="en-US" smtClean="0"/>
              <a:t>6</a:t>
            </a:fld>
            <a:endParaRPr lang="en-US"/>
          </a:p>
        </p:txBody>
      </p:sp>
    </p:spTree>
    <p:extLst>
      <p:ext uri="{BB962C8B-B14F-4D97-AF65-F5344CB8AC3E}">
        <p14:creationId xmlns:p14="http://schemas.microsoft.com/office/powerpoint/2010/main" val="3209060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50666-35FD-CD8B-FA52-620310289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EF371-DB2C-C674-EAB2-8655F4206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0D8C4-E0A5-3C9D-7E80-561547A6445B}"/>
              </a:ext>
            </a:extLst>
          </p:cNvPr>
          <p:cNvSpPr>
            <a:spLocks noGrp="1"/>
          </p:cNvSpPr>
          <p:nvPr>
            <p:ph type="body" idx="1"/>
          </p:nvPr>
        </p:nvSpPr>
        <p:spPr/>
        <p:txBody>
          <a:bodyPr/>
          <a:lstStyle/>
          <a:p>
            <a:r>
              <a:rPr lang="en-US" dirty="0">
                <a:effectLst/>
              </a:rPr>
              <a:t>As the market grows, competition gets tougher. Many consulting firms try to stand out by lowering prices or focusing on certain specialties.</a:t>
            </a:r>
          </a:p>
          <a:p>
            <a:endParaRPr lang="en-US" dirty="0">
              <a:effectLst/>
            </a:endParaRPr>
          </a:p>
          <a:p>
            <a:r>
              <a:rPr lang="en-US" dirty="0">
                <a:effectLst/>
              </a:rPr>
              <a:t>I want FSCG to stand out by helping small businesses run better and lead their teams more effectively. Rather than competing with every firm, FSCG will be known for being organized and having a clear plan.</a:t>
            </a:r>
          </a:p>
          <a:p>
            <a:endParaRPr lang="en-US" dirty="0">
              <a:effectLst/>
            </a:endParaRPr>
          </a:p>
          <a:p>
            <a:r>
              <a:rPr lang="en-US" dirty="0">
                <a:effectLst/>
              </a:rPr>
              <a:t>Porter’s Five Forces analysis (Mehta, 2024) shows that competition rises as industries mature. By offering specialized expertise, a firm can lower buyer power and avoid competing just on price.</a:t>
            </a:r>
          </a:p>
          <a:p>
            <a:r>
              <a:rPr lang="en-US" dirty="0">
                <a:effectLst/>
              </a:rPr>
              <a:t>If the firm stays organized and delivers clear, measurable results, it can keep its advantage over competitors.</a:t>
            </a:r>
          </a:p>
          <a:p>
            <a:endParaRPr lang="en-US" dirty="0">
              <a:effectLst/>
            </a:endParaRPr>
          </a:p>
          <a:p>
            <a:r>
              <a:rPr lang="en-US" dirty="0">
                <a:effectLst/>
              </a:rPr>
              <a:t>Reference:</a:t>
            </a:r>
          </a:p>
          <a:p>
            <a:r>
              <a:rPr lang="en-US" dirty="0"/>
              <a:t>Mehta, K. (2024, April 12). </a:t>
            </a:r>
            <a:r>
              <a:rPr lang="en-US" i="1" dirty="0"/>
              <a:t>Porter’s five forces – Definition, explained, example, model</a:t>
            </a:r>
            <a:r>
              <a:rPr lang="en-US" dirty="0"/>
              <a:t>. </a:t>
            </a:r>
            <a:r>
              <a:rPr lang="en-US" dirty="0" err="1"/>
              <a:t>WallStreetMojo</a:t>
            </a:r>
            <a:r>
              <a:rPr lang="en-US" dirty="0"/>
              <a:t>. </a:t>
            </a:r>
            <a:r>
              <a:rPr lang="en-US" dirty="0">
                <a:hlinkClick r:id="rId3"/>
              </a:rPr>
              <a:t>https://www.wallstreetmojo.com/porters-five-forces/</a:t>
            </a:r>
            <a:endParaRPr lang="en-US" dirty="0">
              <a:effectLst/>
            </a:endParaRPr>
          </a:p>
          <a:p>
            <a:endParaRPr lang="en-US" dirty="0">
              <a:effectLst/>
            </a:endParaRPr>
          </a:p>
          <a:p>
            <a:endParaRPr lang="en-US" dirty="0">
              <a:effectLst/>
            </a:endParaRPr>
          </a:p>
          <a:p>
            <a:endParaRPr lang="en-US" dirty="0"/>
          </a:p>
        </p:txBody>
      </p:sp>
      <p:sp>
        <p:nvSpPr>
          <p:cNvPr id="4" name="Slide Number Placeholder 3">
            <a:extLst>
              <a:ext uri="{FF2B5EF4-FFF2-40B4-BE49-F238E27FC236}">
                <a16:creationId xmlns:a16="http://schemas.microsoft.com/office/drawing/2014/main" id="{DEE57670-2914-937B-8105-C08B269D9049}"/>
              </a:ext>
            </a:extLst>
          </p:cNvPr>
          <p:cNvSpPr>
            <a:spLocks noGrp="1"/>
          </p:cNvSpPr>
          <p:nvPr>
            <p:ph type="sldNum" sz="quarter" idx="5"/>
          </p:nvPr>
        </p:nvSpPr>
        <p:spPr/>
        <p:txBody>
          <a:bodyPr/>
          <a:lstStyle/>
          <a:p>
            <a:fld id="{3D727AC1-B27D-40B6-AF57-2C90554DD7B2}" type="slidenum">
              <a:rPr lang="en-US" smtClean="0"/>
              <a:t>7</a:t>
            </a:fld>
            <a:endParaRPr lang="en-US"/>
          </a:p>
        </p:txBody>
      </p:sp>
    </p:spTree>
    <p:extLst>
      <p:ext uri="{BB962C8B-B14F-4D97-AF65-F5344CB8AC3E}">
        <p14:creationId xmlns:p14="http://schemas.microsoft.com/office/powerpoint/2010/main" val="2548400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D7C53-1544-B569-135E-DB61A3574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79A0B-0796-5E62-25B8-D0EAE0423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E5458-BF95-7CAE-0E70-A855BC0FE3FA}"/>
              </a:ext>
            </a:extLst>
          </p:cNvPr>
          <p:cNvSpPr>
            <a:spLocks noGrp="1"/>
          </p:cNvSpPr>
          <p:nvPr>
            <p:ph type="body" idx="1"/>
          </p:nvPr>
        </p:nvSpPr>
        <p:spPr/>
        <p:txBody>
          <a:bodyPr/>
          <a:lstStyle/>
          <a:p>
            <a:r>
              <a:rPr lang="en-US" dirty="0">
                <a:effectLst/>
              </a:rPr>
              <a:t>Consulting firms rely on strong human capital. The main challenge is finding consultants who have both technical expertise and strong people skills.</a:t>
            </a:r>
          </a:p>
          <a:p>
            <a:endParaRPr lang="en-US" dirty="0">
              <a:effectLst/>
            </a:endParaRPr>
          </a:p>
          <a:p>
            <a:r>
              <a:rPr lang="en-US" dirty="0">
                <a:effectLst/>
              </a:rPr>
              <a:t>I have decided to introduce employee empowerment practices along with performance-based pay.</a:t>
            </a:r>
          </a:p>
          <a:p>
            <a:r>
              <a:rPr lang="en-US" dirty="0">
                <a:effectLst/>
              </a:rPr>
              <a:t>Coursera (2024) says that good Human Resource Management matches employee skills with company goals. When consultants are trusted to handle client relationships and have clear standards, their motivation and performance get better.</a:t>
            </a:r>
          </a:p>
          <a:p>
            <a:endParaRPr lang="en-US" dirty="0">
              <a:effectLst/>
            </a:endParaRPr>
          </a:p>
          <a:p>
            <a:r>
              <a:rPr lang="en-US" dirty="0">
                <a:effectLst/>
              </a:rPr>
              <a:t>At first, outsourcing payroll and HR compliance tasks (Ferruggia, 2024) can help lower costs and make sure the firm follows the law.</a:t>
            </a:r>
          </a:p>
          <a:p>
            <a:endParaRPr lang="en-US" dirty="0">
              <a:effectLst/>
            </a:endParaRPr>
          </a:p>
          <a:p>
            <a:r>
              <a:rPr lang="en-US" dirty="0">
                <a:effectLst/>
              </a:rPr>
              <a:t>References:</a:t>
            </a:r>
          </a:p>
          <a:p>
            <a:r>
              <a:rPr lang="en-US" dirty="0"/>
              <a:t>Coursera Staff. (2024, March 26). </a:t>
            </a:r>
            <a:r>
              <a:rPr lang="en-US" i="1" dirty="0"/>
              <a:t>What is human resource management? Definition + career guide</a:t>
            </a:r>
            <a:r>
              <a:rPr lang="en-US" dirty="0"/>
              <a:t>. Coursera. </a:t>
            </a:r>
            <a:r>
              <a:rPr lang="en-US" dirty="0">
                <a:hlinkClick r:id="rId3"/>
              </a:rPr>
              <a:t>https://www.coursera.org/articles/human-resource-management</a:t>
            </a:r>
            <a:endParaRPr lang="en-US" dirty="0"/>
          </a:p>
          <a:p>
            <a:r>
              <a:rPr lang="en-US" dirty="0"/>
              <a:t>Ferruggia, G. (2024, April 17). </a:t>
            </a:r>
            <a:r>
              <a:rPr lang="en-US" i="1" dirty="0"/>
              <a:t>How to outsource human resources: A comprehensive guide</a:t>
            </a:r>
            <a:r>
              <a:rPr lang="en-US" dirty="0"/>
              <a:t>. </a:t>
            </a:r>
            <a:r>
              <a:rPr lang="en-US" dirty="0" err="1"/>
              <a:t>Hubstaff</a:t>
            </a:r>
            <a:r>
              <a:rPr lang="en-US" dirty="0"/>
              <a:t> Blog. </a:t>
            </a:r>
            <a:r>
              <a:rPr lang="en-US" dirty="0">
                <a:hlinkClick r:id="rId4"/>
              </a:rPr>
              <a:t>https://hubstaff.com/blog/how-to-outsource-human-resources/</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E8B794E-43DB-8D87-D653-4E4596A004B6}"/>
              </a:ext>
            </a:extLst>
          </p:cNvPr>
          <p:cNvSpPr>
            <a:spLocks noGrp="1"/>
          </p:cNvSpPr>
          <p:nvPr>
            <p:ph type="sldNum" sz="quarter" idx="5"/>
          </p:nvPr>
        </p:nvSpPr>
        <p:spPr/>
        <p:txBody>
          <a:bodyPr/>
          <a:lstStyle/>
          <a:p>
            <a:fld id="{3D727AC1-B27D-40B6-AF57-2C90554DD7B2}" type="slidenum">
              <a:rPr lang="en-US" smtClean="0"/>
              <a:t>8</a:t>
            </a:fld>
            <a:endParaRPr lang="en-US"/>
          </a:p>
        </p:txBody>
      </p:sp>
    </p:spTree>
    <p:extLst>
      <p:ext uri="{BB962C8B-B14F-4D97-AF65-F5344CB8AC3E}">
        <p14:creationId xmlns:p14="http://schemas.microsoft.com/office/powerpoint/2010/main" val="4034921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606F-CD7E-77AF-BDBE-9DD442F92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08A3B-B80F-7C6D-9F2E-50D68F99E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1927C-AC1D-A2D4-37BF-F95FCE3FDC23}"/>
              </a:ext>
            </a:extLst>
          </p:cNvPr>
          <p:cNvSpPr>
            <a:spLocks noGrp="1"/>
          </p:cNvSpPr>
          <p:nvPr>
            <p:ph type="body" idx="1"/>
          </p:nvPr>
        </p:nvSpPr>
        <p:spPr/>
        <p:txBody>
          <a:bodyPr/>
          <a:lstStyle/>
          <a:p>
            <a:r>
              <a:rPr lang="en-US" dirty="0">
                <a:effectLst/>
              </a:rPr>
              <a:t>As the Founder and CEO, I plan to start with a traditional hierarchy and move to a matrix structure if we expand nationally.</a:t>
            </a:r>
          </a:p>
          <a:p>
            <a:endParaRPr lang="en-US" dirty="0">
              <a:effectLst/>
            </a:endParaRPr>
          </a:p>
          <a:p>
            <a:r>
              <a:rPr lang="en-US" dirty="0">
                <a:effectLst/>
              </a:rPr>
              <a:t>At first, centralized decision-making will help keep things consistent. As the company grows, we may need a project-based matrix structure to support teamwork across different departments.</a:t>
            </a:r>
          </a:p>
          <a:p>
            <a:endParaRPr lang="en-US" dirty="0">
              <a:effectLst/>
            </a:endParaRPr>
          </a:p>
          <a:p>
            <a:r>
              <a:rPr lang="en-US" dirty="0">
                <a:effectLst/>
              </a:rPr>
              <a:t>According to OpenStax (Ch. 7), a company’s structure should change as it grows. Keeping the structure aligned helps avoid confusion and keeps operations running smoothly.</a:t>
            </a:r>
          </a:p>
          <a:p>
            <a:endParaRPr lang="en-US" dirty="0"/>
          </a:p>
          <a:p>
            <a:endParaRPr lang="en-US" dirty="0"/>
          </a:p>
          <a:p>
            <a:r>
              <a:rPr lang="en-US" dirty="0"/>
              <a:t>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OpenStax. (n.d.). </a:t>
            </a:r>
            <a:r>
              <a:rPr lang="en-US" i="1" dirty="0"/>
              <a:t>Principles of business</a:t>
            </a:r>
            <a:r>
              <a:rPr lang="en-US" dirty="0"/>
              <a:t> (Chapter 7). OpenStax. </a:t>
            </a:r>
            <a:r>
              <a:rPr lang="en-US" dirty="0">
                <a:hlinkClick r:id="rId3"/>
              </a:rPr>
              <a:t>https://openstax.org</a:t>
            </a:r>
            <a:endParaRPr lang="en-US" dirty="0"/>
          </a:p>
          <a:p>
            <a:endParaRPr lang="en-US" dirty="0"/>
          </a:p>
        </p:txBody>
      </p:sp>
      <p:sp>
        <p:nvSpPr>
          <p:cNvPr id="4" name="Slide Number Placeholder 3">
            <a:extLst>
              <a:ext uri="{FF2B5EF4-FFF2-40B4-BE49-F238E27FC236}">
                <a16:creationId xmlns:a16="http://schemas.microsoft.com/office/drawing/2014/main" id="{DAE46DBE-AD24-8CF9-BDDD-A486BC2EE004}"/>
              </a:ext>
            </a:extLst>
          </p:cNvPr>
          <p:cNvSpPr>
            <a:spLocks noGrp="1"/>
          </p:cNvSpPr>
          <p:nvPr>
            <p:ph type="sldNum" sz="quarter" idx="5"/>
          </p:nvPr>
        </p:nvSpPr>
        <p:spPr/>
        <p:txBody>
          <a:bodyPr/>
          <a:lstStyle/>
          <a:p>
            <a:fld id="{3D727AC1-B27D-40B6-AF57-2C90554DD7B2}" type="slidenum">
              <a:rPr lang="en-US" smtClean="0"/>
              <a:t>9</a:t>
            </a:fld>
            <a:endParaRPr lang="en-US"/>
          </a:p>
        </p:txBody>
      </p:sp>
    </p:spTree>
    <p:extLst>
      <p:ext uri="{BB962C8B-B14F-4D97-AF65-F5344CB8AC3E}">
        <p14:creationId xmlns:p14="http://schemas.microsoft.com/office/powerpoint/2010/main" val="1995167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17C5-4BA2-C93D-F8D1-AEE288EC2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1C7FB-6298-5C32-59C7-7FF13785F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98983-45D7-8636-F900-48AC7DD1E78E}"/>
              </a:ext>
            </a:extLst>
          </p:cNvPr>
          <p:cNvSpPr>
            <a:spLocks noGrp="1"/>
          </p:cNvSpPr>
          <p:nvPr>
            <p:ph type="body" idx="1"/>
          </p:nvPr>
        </p:nvSpPr>
        <p:spPr/>
        <p:txBody>
          <a:bodyPr/>
          <a:lstStyle/>
          <a:p>
            <a:r>
              <a:rPr lang="en-US" dirty="0">
                <a:effectLst/>
              </a:rPr>
              <a:t>As the Founder and CEO, I plan to start with a traditional hierarchy and move to a matrix structure if Consulting firms work with sensitive operational and financial data, so strong cybersecurity is essential.</a:t>
            </a:r>
          </a:p>
          <a:p>
            <a:r>
              <a:rPr lang="en-US" dirty="0">
                <a:effectLst/>
              </a:rPr>
              <a:t>I have decided to invest early in encrypted systems, secure cloud storage, and compliance training for our consultants.</a:t>
            </a:r>
          </a:p>
          <a:p>
            <a:endParaRPr lang="en-US" dirty="0">
              <a:effectLst/>
            </a:endParaRPr>
          </a:p>
          <a:p>
            <a:r>
              <a:rPr lang="en-US" dirty="0">
                <a:effectLst/>
              </a:rPr>
              <a:t>The Office of Disability Employment Policy (n.d.) highlights the importance of legal compliance and securely handling sensitive employment data. Keeping client information safe builds trust and helps protect our brand’s reputation.</a:t>
            </a:r>
          </a:p>
          <a:p>
            <a:endParaRPr lang="en-US" dirty="0"/>
          </a:p>
          <a:p>
            <a:endParaRPr lang="en-US" dirty="0"/>
          </a:p>
          <a:p>
            <a:r>
              <a:rPr lang="en-US" dirty="0"/>
              <a:t>Reference:</a:t>
            </a:r>
          </a:p>
          <a:p>
            <a:r>
              <a:rPr lang="en-US" dirty="0"/>
              <a:t>U.S. Department of Labor. </a:t>
            </a:r>
            <a:r>
              <a:rPr lang="en-US" dirty="0">
                <a:hlinkClick r:id="rId3"/>
              </a:rPr>
              <a:t>https://www.dol.gov/agencies/odep/publications/fact-sheets/employment-laws-overview-and-resources-for-employers</a:t>
            </a:r>
            <a:endParaRPr lang="en-US" dirty="0"/>
          </a:p>
        </p:txBody>
      </p:sp>
      <p:sp>
        <p:nvSpPr>
          <p:cNvPr id="4" name="Slide Number Placeholder 3">
            <a:extLst>
              <a:ext uri="{FF2B5EF4-FFF2-40B4-BE49-F238E27FC236}">
                <a16:creationId xmlns:a16="http://schemas.microsoft.com/office/drawing/2014/main" id="{E985C13A-7A92-0CB3-BAB3-BCB40E663896}"/>
              </a:ext>
            </a:extLst>
          </p:cNvPr>
          <p:cNvSpPr>
            <a:spLocks noGrp="1"/>
          </p:cNvSpPr>
          <p:nvPr>
            <p:ph type="sldNum" sz="quarter" idx="5"/>
          </p:nvPr>
        </p:nvSpPr>
        <p:spPr/>
        <p:txBody>
          <a:bodyPr/>
          <a:lstStyle/>
          <a:p>
            <a:fld id="{3D727AC1-B27D-40B6-AF57-2C90554DD7B2}" type="slidenum">
              <a:rPr lang="en-US" smtClean="0"/>
              <a:t>10</a:t>
            </a:fld>
            <a:endParaRPr lang="en-US"/>
          </a:p>
        </p:txBody>
      </p:sp>
    </p:spTree>
    <p:extLst>
      <p:ext uri="{BB962C8B-B14F-4D97-AF65-F5344CB8AC3E}">
        <p14:creationId xmlns:p14="http://schemas.microsoft.com/office/powerpoint/2010/main" val="856352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769DB-2CF1-F603-8622-80BDCAE7C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87D58-C827-499C-97CF-C1C1E6BDB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3D845-25E2-9EFF-F407-398A31E477FB}"/>
              </a:ext>
            </a:extLst>
          </p:cNvPr>
          <p:cNvSpPr>
            <a:spLocks noGrp="1"/>
          </p:cNvSpPr>
          <p:nvPr>
            <p:ph type="body" idx="1"/>
          </p:nvPr>
        </p:nvSpPr>
        <p:spPr/>
        <p:txBody>
          <a:bodyPr/>
          <a:lstStyle/>
          <a:p>
            <a:r>
              <a:rPr lang="en-US" dirty="0">
                <a:effectLst/>
              </a:rPr>
              <a:t>As the Founder and CEO of Fidelis Strategic Consulting Group, I learned that business success is always changing. Every stage calls for a new leadership approach and focus.</a:t>
            </a:r>
          </a:p>
          <a:p>
            <a:endParaRPr lang="en-US" dirty="0">
              <a:effectLst/>
            </a:endParaRPr>
          </a:p>
          <a:p>
            <a:r>
              <a:rPr lang="en-US" dirty="0">
                <a:effectLst/>
              </a:rPr>
              <a:t>At the Birth stage, building credibility is key. Without trust and proven results, a consulting firm struggles to get started. As the business grows, having clear roles and systems becomes vital. Without them, growth can lead to stress and lower quality.</a:t>
            </a:r>
          </a:p>
          <a:p>
            <a:endParaRPr lang="en-US" dirty="0">
              <a:effectLst/>
            </a:endParaRPr>
          </a:p>
          <a:p>
            <a:r>
              <a:rPr lang="en-US" dirty="0">
                <a:effectLst/>
              </a:rPr>
              <a:t>In the Maturity stage, standing out from competitors is crucial. As competition grows, firms need to clearly show what makes them unique. When facing Decline, keeping revenue steady is most important. Offering subscription services or regular workshops can help reduce reliance on one-time projects.</a:t>
            </a:r>
          </a:p>
          <a:p>
            <a:endParaRPr lang="en-US" dirty="0">
              <a:effectLst/>
            </a:endParaRPr>
          </a:p>
          <a:p>
            <a:r>
              <a:rPr lang="en-US" dirty="0">
                <a:effectLst/>
              </a:rPr>
              <a:t>Renewal depends on innovation. As markets, technology, and client needs change, leaders need to update their services and how they deliver them to stay relevant.</a:t>
            </a:r>
          </a:p>
          <a:p>
            <a:endParaRPr lang="en-US" dirty="0">
              <a:effectLst/>
            </a:endParaRPr>
          </a:p>
          <a:p>
            <a:r>
              <a:rPr lang="en-US" dirty="0">
                <a:effectLst/>
              </a:rPr>
              <a:t>The primary lesson learned is that leadership decisions must align with lifecycle realities. Organizational structure, human capital strategy, financial planning, and innovation efforts must shift based on the company’s stage of development.</a:t>
            </a:r>
          </a:p>
          <a:p>
            <a:endParaRPr lang="en-US" dirty="0">
              <a:effectLst/>
            </a:endParaRPr>
          </a:p>
          <a:p>
            <a:r>
              <a:rPr lang="en-US" dirty="0">
                <a:effectLst/>
              </a:rPr>
              <a:t>As CEO, I’ve found that being adaptable is the key to lasting success.</a:t>
            </a:r>
          </a:p>
          <a:p>
            <a:endParaRPr lang="en-US" dirty="0"/>
          </a:p>
        </p:txBody>
      </p:sp>
      <p:sp>
        <p:nvSpPr>
          <p:cNvPr id="4" name="Slide Number Placeholder 3">
            <a:extLst>
              <a:ext uri="{FF2B5EF4-FFF2-40B4-BE49-F238E27FC236}">
                <a16:creationId xmlns:a16="http://schemas.microsoft.com/office/drawing/2014/main" id="{6F44811D-954A-92F3-1CFB-47AFA53AA6F7}"/>
              </a:ext>
            </a:extLst>
          </p:cNvPr>
          <p:cNvSpPr>
            <a:spLocks noGrp="1"/>
          </p:cNvSpPr>
          <p:nvPr>
            <p:ph type="sldNum" sz="quarter" idx="5"/>
          </p:nvPr>
        </p:nvSpPr>
        <p:spPr/>
        <p:txBody>
          <a:bodyPr/>
          <a:lstStyle/>
          <a:p>
            <a:fld id="{3D727AC1-B27D-40B6-AF57-2C90554DD7B2}" type="slidenum">
              <a:rPr lang="en-US" smtClean="0"/>
              <a:t>11</a:t>
            </a:fld>
            <a:endParaRPr lang="en-US"/>
          </a:p>
        </p:txBody>
      </p:sp>
    </p:spTree>
    <p:extLst>
      <p:ext uri="{BB962C8B-B14F-4D97-AF65-F5344CB8AC3E}">
        <p14:creationId xmlns:p14="http://schemas.microsoft.com/office/powerpoint/2010/main" val="749520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919ED-23E7-467D-948B-274A023A4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DC7E2-92B5-931C-A1E6-518334CDD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7F8D2-1923-CD70-ED53-A2A956E555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5D2F44-AC36-F420-3F16-FDC648C1B24B}"/>
              </a:ext>
            </a:extLst>
          </p:cNvPr>
          <p:cNvSpPr>
            <a:spLocks noGrp="1"/>
          </p:cNvSpPr>
          <p:nvPr>
            <p:ph type="sldNum" sz="quarter" idx="5"/>
          </p:nvPr>
        </p:nvSpPr>
        <p:spPr/>
        <p:txBody>
          <a:bodyPr/>
          <a:lstStyle/>
          <a:p>
            <a:fld id="{3D727AC1-B27D-40B6-AF57-2C90554DD7B2}" type="slidenum">
              <a:rPr lang="en-US" smtClean="0"/>
              <a:t>12</a:t>
            </a:fld>
            <a:endParaRPr lang="en-US"/>
          </a:p>
        </p:txBody>
      </p:sp>
    </p:spTree>
    <p:extLst>
      <p:ext uri="{BB962C8B-B14F-4D97-AF65-F5344CB8AC3E}">
        <p14:creationId xmlns:p14="http://schemas.microsoft.com/office/powerpoint/2010/main" val="840279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2/19/26</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2025732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943972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091306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7103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4781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67815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960010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858725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1152843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958233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2/19/26</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307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2/19/26</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6782499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www.dol.gov/agencies/odep/publications/fact-sheets/employment-laws-overview-and-resources-for-employers" TargetMode="External"/><Relationship Id="rId3" Type="http://schemas.openxmlformats.org/officeDocument/2006/relationships/hyperlink" Target="https://www.youtube.com/watch?v=_C-vGu2mL38" TargetMode="External"/><Relationship Id="rId7" Type="http://schemas.openxmlformats.org/officeDocument/2006/relationships/hyperlink" Target="https://hubstaff.com/blog/how-to-outsource-human-resource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coursera.org/articles/human-resource-management" TargetMode="External"/><Relationship Id="rId5" Type="http://schemas.openxmlformats.org/officeDocument/2006/relationships/hyperlink" Target="https://www.wallstreetmojo.com/porters-five-forces/" TargetMode="External"/><Relationship Id="rId4" Type="http://schemas.openxmlformats.org/officeDocument/2006/relationships/hyperlink" Target="https://openstax.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D319-02CC-2F63-661E-0950D450090E}"/>
              </a:ext>
            </a:extLst>
          </p:cNvPr>
          <p:cNvSpPr>
            <a:spLocks noGrp="1"/>
          </p:cNvSpPr>
          <p:nvPr>
            <p:ph type="ctrTitle"/>
          </p:nvPr>
        </p:nvSpPr>
        <p:spPr>
          <a:xfrm>
            <a:off x="1078991" y="1143000"/>
            <a:ext cx="10597895" cy="4002437"/>
          </a:xfrm>
        </p:spPr>
        <p:txBody>
          <a:bodyPr>
            <a:normAutofit fontScale="90000"/>
          </a:bodyPr>
          <a:lstStyle/>
          <a:p>
            <a:pPr>
              <a:lnSpc>
                <a:spcPct val="200000"/>
              </a:lnSpc>
            </a:pPr>
            <a:r>
              <a:rPr lang="en-US" sz="3600" dirty="0"/>
              <a:t>Fidelis Strategic Consulting Group: The Entrepreneur’s Playbook</a:t>
            </a:r>
            <a:br>
              <a:rPr lang="en-US" sz="3600" dirty="0"/>
            </a:br>
            <a:r>
              <a:rPr lang="en-US" sz="3600" dirty="0"/>
              <a:t>By: Jonathan Williams</a:t>
            </a:r>
            <a:br>
              <a:rPr lang="en-US" sz="3600" dirty="0"/>
            </a:br>
            <a:r>
              <a:rPr lang="en-US" sz="3600" dirty="0"/>
              <a:t>BUSN100 I011 Winter 2026</a:t>
            </a:r>
          </a:p>
        </p:txBody>
      </p:sp>
    </p:spTree>
    <p:extLst>
      <p:ext uri="{BB962C8B-B14F-4D97-AF65-F5344CB8AC3E}">
        <p14:creationId xmlns:p14="http://schemas.microsoft.com/office/powerpoint/2010/main" val="2562190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E9AF85-0CC5-CBAD-C3E0-588877059154}"/>
              </a:ext>
            </a:extLst>
          </p:cNvPr>
          <p:cNvSpPr>
            <a:spLocks noGrp="1"/>
          </p:cNvSpPr>
          <p:nvPr>
            <p:ph type="title"/>
          </p:nvPr>
        </p:nvSpPr>
        <p:spPr>
          <a:xfrm>
            <a:off x="758952" y="379475"/>
            <a:ext cx="10671048" cy="1554480"/>
          </a:xfrm>
        </p:spPr>
        <p:txBody>
          <a:bodyPr anchor="ctr">
            <a:normAutofit fontScale="90000"/>
          </a:bodyPr>
          <a:lstStyle/>
          <a:p>
            <a:pPr algn="ctr"/>
            <a:r>
              <a:rPr lang="en-US" dirty="0">
                <a:solidFill>
                  <a:schemeClr val="bg1"/>
                </a:solidFill>
              </a:rPr>
              <a:t>Fidelis Strategic Consulting Group Introduction</a:t>
            </a:r>
          </a:p>
        </p:txBody>
      </p:sp>
      <p:sp>
        <p:nvSpPr>
          <p:cNvPr id="3" name="Content Placeholder 2">
            <a:extLst>
              <a:ext uri="{FF2B5EF4-FFF2-40B4-BE49-F238E27FC236}">
                <a16:creationId xmlns:a16="http://schemas.microsoft.com/office/drawing/2014/main" id="{A72FD02C-B134-F2E7-20F5-CD60B9BFE9EE}"/>
              </a:ext>
            </a:extLst>
          </p:cNvPr>
          <p:cNvSpPr>
            <a:spLocks noGrp="1"/>
          </p:cNvSpPr>
          <p:nvPr>
            <p:ph idx="1"/>
          </p:nvPr>
        </p:nvSpPr>
        <p:spPr>
          <a:xfrm>
            <a:off x="758824" y="2607732"/>
            <a:ext cx="8412480" cy="3174357"/>
          </a:xfrm>
        </p:spPr>
        <p:txBody>
          <a:bodyPr>
            <a:normAutofit/>
          </a:bodyPr>
          <a:lstStyle/>
          <a:p>
            <a:pPr>
              <a:lnSpc>
                <a:spcPct val="200000"/>
              </a:lnSpc>
            </a:pPr>
            <a:r>
              <a:rPr lang="en-US" b="1" dirty="0"/>
              <a:t>Company Name:</a:t>
            </a:r>
            <a:r>
              <a:rPr lang="en-US" dirty="0"/>
              <a:t> Fidelis Strategic Consulting Group</a:t>
            </a:r>
          </a:p>
          <a:p>
            <a:pPr>
              <a:lnSpc>
                <a:spcPct val="200000"/>
              </a:lnSpc>
            </a:pPr>
            <a:r>
              <a:rPr lang="en-US" b="1" dirty="0"/>
              <a:t>Product/Service:</a:t>
            </a:r>
            <a:r>
              <a:rPr lang="en-US" dirty="0"/>
              <a:t> Business Consulting</a:t>
            </a:r>
          </a:p>
          <a:p>
            <a:pPr>
              <a:lnSpc>
                <a:spcPct val="200000"/>
              </a:lnSpc>
            </a:pPr>
            <a:r>
              <a:rPr lang="en-US" b="1" dirty="0"/>
              <a:t>Target Customer:</a:t>
            </a:r>
            <a:r>
              <a:rPr lang="en-US" dirty="0"/>
              <a:t> Business Executives and Directors</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170268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795EBA6-F2AB-EC75-B7DF-BE6E184FD78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717239-A01A-5360-204A-38ECFA05F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3FA643-65E5-46E8-A731-CA4347973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D8BB5E-B802-A74B-5747-22B8FE2220D7}"/>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Birth</a:t>
            </a:r>
          </a:p>
        </p:txBody>
      </p:sp>
      <p:sp>
        <p:nvSpPr>
          <p:cNvPr id="3" name="Content Placeholder 2">
            <a:extLst>
              <a:ext uri="{FF2B5EF4-FFF2-40B4-BE49-F238E27FC236}">
                <a16:creationId xmlns:a16="http://schemas.microsoft.com/office/drawing/2014/main" id="{9C7B7A13-0C08-8A46-7F12-9C004CD98EA5}"/>
              </a:ext>
            </a:extLst>
          </p:cNvPr>
          <p:cNvSpPr>
            <a:spLocks noGrp="1"/>
          </p:cNvSpPr>
          <p:nvPr>
            <p:ph idx="1"/>
          </p:nvPr>
        </p:nvSpPr>
        <p:spPr>
          <a:xfrm>
            <a:off x="758824" y="2607732"/>
            <a:ext cx="8412480" cy="3174357"/>
          </a:xfrm>
        </p:spPr>
        <p:txBody>
          <a:bodyPr>
            <a:normAutofit/>
          </a:bodyPr>
          <a:lstStyle/>
          <a:p>
            <a:pPr marL="0" indent="0" algn="ctr">
              <a:lnSpc>
                <a:spcPct val="200000"/>
              </a:lnSpc>
              <a:buNone/>
            </a:pPr>
            <a:r>
              <a:rPr lang="en-US" b="1" dirty="0"/>
              <a:t>Stage 1: Birth</a:t>
            </a:r>
            <a:endParaRPr lang="en-US" dirty="0"/>
          </a:p>
          <a:p>
            <a:pPr marL="0" lvl="0" indent="0" eaLnBrk="0" fontAlgn="base" hangingPunct="0">
              <a:spcBef>
                <a:spcPct val="0"/>
              </a:spcBef>
              <a:spcAft>
                <a:spcPts val="600"/>
              </a:spcAft>
              <a:buNone/>
            </a:pPr>
            <a:r>
              <a:rPr lang="en-US" b="1" dirty="0"/>
              <a:t>My #1 Challenge:</a:t>
            </a:r>
            <a:r>
              <a:rPr lang="en-US" dirty="0"/>
              <a:t> Establishing Credibility &amp; Acquiring First Clients</a:t>
            </a:r>
          </a:p>
          <a:p>
            <a:pPr marL="0" lvl="0" indent="0" eaLnBrk="0" fontAlgn="base" hangingPunct="0">
              <a:spcBef>
                <a:spcPct val="0"/>
              </a:spcBef>
              <a:spcAft>
                <a:spcPts val="600"/>
              </a:spcAft>
              <a:buFontTx/>
              <a:buChar char="•"/>
            </a:pPr>
            <a:r>
              <a:rPr lang="en-US" altLang="en-US" dirty="0">
                <a:latin typeface="Arial" panose="020B0604020202020204" pitchFamily="34" charset="0"/>
              </a:rPr>
              <a:t>Limited brand recognition</a:t>
            </a:r>
          </a:p>
          <a:p>
            <a:pPr marL="0" lvl="0" indent="0" eaLnBrk="0" fontAlgn="base" hangingPunct="0">
              <a:spcBef>
                <a:spcPct val="0"/>
              </a:spcBef>
              <a:spcAft>
                <a:spcPts val="600"/>
              </a:spcAft>
              <a:buFontTx/>
              <a:buChar char="•"/>
            </a:pPr>
            <a:r>
              <a:rPr lang="en-US" altLang="en-US" dirty="0">
                <a:latin typeface="Arial" panose="020B0604020202020204" pitchFamily="34" charset="0"/>
              </a:rPr>
              <a:t>No established client base</a:t>
            </a:r>
          </a:p>
          <a:p>
            <a:pPr marL="0" lvl="0" indent="0" eaLnBrk="0" fontAlgn="base" hangingPunct="0">
              <a:spcBef>
                <a:spcPct val="0"/>
              </a:spcBef>
              <a:spcAft>
                <a:spcPts val="600"/>
              </a:spcAft>
              <a:buFontTx/>
              <a:buChar char="•"/>
            </a:pPr>
            <a:r>
              <a:rPr lang="en-US" altLang="en-US" dirty="0">
                <a:latin typeface="Arial" panose="020B0604020202020204" pitchFamily="34" charset="0"/>
              </a:rPr>
              <a:t>Revenue uncertainty</a:t>
            </a:r>
          </a:p>
          <a:p>
            <a:pPr>
              <a:lnSpc>
                <a:spcPct val="200000"/>
              </a:lnSpc>
            </a:pPr>
            <a:endParaRPr lang="en-US" dirty="0"/>
          </a:p>
        </p:txBody>
      </p:sp>
      <p:sp>
        <p:nvSpPr>
          <p:cNvPr id="12" name="Freeform 6">
            <a:extLst>
              <a:ext uri="{FF2B5EF4-FFF2-40B4-BE49-F238E27FC236}">
                <a16:creationId xmlns:a16="http://schemas.microsoft.com/office/drawing/2014/main" id="{55386E50-8D9A-C459-B23E-24530B116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082293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6D1C164-323D-D971-E6FC-08B2EB247C2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2EE35F-3DA0-C23A-340B-BC1EC0022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7F51E9-BC7F-F5B2-FBD5-AD2E27809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4B5A1F-60B8-2D90-7D35-F4DF07D4B076}"/>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Growth</a:t>
            </a:r>
          </a:p>
        </p:txBody>
      </p:sp>
      <p:sp>
        <p:nvSpPr>
          <p:cNvPr id="3" name="Content Placeholder 2">
            <a:extLst>
              <a:ext uri="{FF2B5EF4-FFF2-40B4-BE49-F238E27FC236}">
                <a16:creationId xmlns:a16="http://schemas.microsoft.com/office/drawing/2014/main" id="{5B39B8DB-F836-7B5F-2D5C-99BEA3FB94A2}"/>
              </a:ext>
            </a:extLst>
          </p:cNvPr>
          <p:cNvSpPr>
            <a:spLocks noGrp="1"/>
          </p:cNvSpPr>
          <p:nvPr>
            <p:ph idx="1"/>
          </p:nvPr>
        </p:nvSpPr>
        <p:spPr>
          <a:xfrm>
            <a:off x="758824" y="2607732"/>
            <a:ext cx="8412480" cy="3174357"/>
          </a:xfrm>
        </p:spPr>
        <p:txBody>
          <a:bodyPr>
            <a:normAutofit/>
          </a:bodyPr>
          <a:lstStyle/>
          <a:p>
            <a:pPr marL="0" indent="0" algn="ctr">
              <a:lnSpc>
                <a:spcPct val="200000"/>
              </a:lnSpc>
              <a:buNone/>
            </a:pPr>
            <a:r>
              <a:rPr lang="en-US" b="1" dirty="0"/>
              <a:t>Stage 2: Growth</a:t>
            </a:r>
            <a:endParaRPr lang="en-US" dirty="0"/>
          </a:p>
          <a:p>
            <a:pPr marL="0" lvl="0" indent="0" eaLnBrk="0" fontAlgn="base" hangingPunct="0">
              <a:spcBef>
                <a:spcPct val="0"/>
              </a:spcBef>
              <a:spcAft>
                <a:spcPts val="600"/>
              </a:spcAft>
              <a:buNone/>
            </a:pPr>
            <a:r>
              <a:rPr lang="en-US" b="1" dirty="0"/>
              <a:t>My #1 Challenge:</a:t>
            </a:r>
            <a:r>
              <a:rPr lang="en-US" dirty="0"/>
              <a:t> Scaling Without Losing Quality</a:t>
            </a:r>
          </a:p>
          <a:p>
            <a:pPr marL="0" lvl="0" indent="0" eaLnBrk="0" fontAlgn="base" hangingPunct="0">
              <a:spcBef>
                <a:spcPct val="0"/>
              </a:spcBef>
              <a:spcAft>
                <a:spcPts val="600"/>
              </a:spcAft>
              <a:buFontTx/>
              <a:buChar char="•"/>
            </a:pPr>
            <a:r>
              <a:rPr lang="en-US" altLang="en-US" dirty="0">
                <a:latin typeface="Arial" panose="020B0604020202020204" pitchFamily="34" charset="0"/>
              </a:rPr>
              <a:t>Increasing client demand</a:t>
            </a:r>
          </a:p>
          <a:p>
            <a:pPr marL="0" lvl="0" indent="0" eaLnBrk="0" fontAlgn="base" hangingPunct="0">
              <a:spcBef>
                <a:spcPct val="0"/>
              </a:spcBef>
              <a:spcAft>
                <a:spcPts val="600"/>
              </a:spcAft>
              <a:buFontTx/>
              <a:buChar char="•"/>
            </a:pPr>
            <a:r>
              <a:rPr lang="en-US" altLang="en-US" dirty="0">
                <a:latin typeface="Arial" panose="020B0604020202020204" pitchFamily="34" charset="0"/>
              </a:rPr>
              <a:t>Time constraints</a:t>
            </a:r>
          </a:p>
          <a:p>
            <a:pPr marL="0" lvl="0" indent="0" eaLnBrk="0" fontAlgn="base" hangingPunct="0">
              <a:spcBef>
                <a:spcPct val="0"/>
              </a:spcBef>
              <a:spcAft>
                <a:spcPts val="600"/>
              </a:spcAft>
              <a:buFontTx/>
              <a:buChar char="•"/>
            </a:pPr>
            <a:r>
              <a:rPr lang="en-US" altLang="en-US" dirty="0">
                <a:latin typeface="Arial" panose="020B0604020202020204" pitchFamily="34" charset="0"/>
              </a:rPr>
              <a:t>Need for structured processes</a:t>
            </a:r>
          </a:p>
          <a:p>
            <a:pPr>
              <a:lnSpc>
                <a:spcPct val="200000"/>
              </a:lnSpc>
            </a:pPr>
            <a:endParaRPr lang="en-US" dirty="0"/>
          </a:p>
        </p:txBody>
      </p:sp>
      <p:sp>
        <p:nvSpPr>
          <p:cNvPr id="12" name="Freeform 6">
            <a:extLst>
              <a:ext uri="{FF2B5EF4-FFF2-40B4-BE49-F238E27FC236}">
                <a16:creationId xmlns:a16="http://schemas.microsoft.com/office/drawing/2014/main" id="{9B32055F-8602-8794-A179-A2E860070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212733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90D72D7-E913-7B8F-91EB-6B761C519E3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B576924-3E81-6BF6-1ABB-3CB348751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767330C-941E-47D9-559F-8E9214817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1134AC-5764-290E-8A87-668EBD43B192}"/>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Maturity</a:t>
            </a:r>
          </a:p>
        </p:txBody>
      </p:sp>
      <p:sp>
        <p:nvSpPr>
          <p:cNvPr id="3" name="Content Placeholder 2">
            <a:extLst>
              <a:ext uri="{FF2B5EF4-FFF2-40B4-BE49-F238E27FC236}">
                <a16:creationId xmlns:a16="http://schemas.microsoft.com/office/drawing/2014/main" id="{26D0206D-BD7E-74B4-E846-E9E550555950}"/>
              </a:ext>
            </a:extLst>
          </p:cNvPr>
          <p:cNvSpPr>
            <a:spLocks noGrp="1"/>
          </p:cNvSpPr>
          <p:nvPr>
            <p:ph idx="1"/>
          </p:nvPr>
        </p:nvSpPr>
        <p:spPr>
          <a:xfrm>
            <a:off x="758824" y="2607732"/>
            <a:ext cx="8412480" cy="3174357"/>
          </a:xfrm>
        </p:spPr>
        <p:txBody>
          <a:bodyPr>
            <a:normAutofit/>
          </a:bodyPr>
          <a:lstStyle/>
          <a:p>
            <a:pPr marL="0" indent="0" algn="ctr">
              <a:lnSpc>
                <a:spcPct val="250000"/>
              </a:lnSpc>
              <a:buNone/>
            </a:pPr>
            <a:r>
              <a:rPr lang="en-US" b="1" dirty="0"/>
              <a:t>Stage 3: Maturity</a:t>
            </a:r>
            <a:endParaRPr lang="en-US" dirty="0"/>
          </a:p>
          <a:p>
            <a:pPr>
              <a:lnSpc>
                <a:spcPct val="250000"/>
              </a:lnSpc>
            </a:pPr>
            <a:r>
              <a:rPr lang="en-US" b="1" dirty="0"/>
              <a:t>My #1 Challenge:</a:t>
            </a:r>
            <a:r>
              <a:rPr lang="en-US" dirty="0"/>
              <a:t> Market Saturation &amp; Competitive Pressure</a:t>
            </a:r>
          </a:p>
          <a:p>
            <a:pPr marL="0" lvl="0" indent="0" eaLnBrk="0" fontAlgn="base" hangingPunct="0">
              <a:spcBef>
                <a:spcPct val="0"/>
              </a:spcBef>
              <a:spcAft>
                <a:spcPts val="600"/>
              </a:spcAft>
              <a:buFontTx/>
              <a:buChar char="•"/>
            </a:pPr>
            <a:r>
              <a:rPr lang="en-US" altLang="en-US" dirty="0">
                <a:latin typeface="Arial" panose="020B0604020202020204" pitchFamily="34" charset="0"/>
              </a:rPr>
              <a:t>Increased competitors</a:t>
            </a:r>
          </a:p>
          <a:p>
            <a:pPr marL="0" lvl="0" indent="0" eaLnBrk="0" fontAlgn="base" hangingPunct="0">
              <a:spcBef>
                <a:spcPct val="0"/>
              </a:spcBef>
              <a:spcAft>
                <a:spcPts val="600"/>
              </a:spcAft>
              <a:buFontTx/>
              <a:buChar char="•"/>
            </a:pPr>
            <a:r>
              <a:rPr lang="en-US" altLang="en-US" dirty="0">
                <a:latin typeface="Arial" panose="020B0604020202020204" pitchFamily="34" charset="0"/>
              </a:rPr>
              <a:t>Slower client acquisition</a:t>
            </a:r>
          </a:p>
          <a:p>
            <a:pPr marL="0" lvl="0" indent="0" eaLnBrk="0" fontAlgn="base" hangingPunct="0">
              <a:spcBef>
                <a:spcPct val="0"/>
              </a:spcBef>
              <a:spcAft>
                <a:spcPts val="600"/>
              </a:spcAft>
              <a:buFontTx/>
              <a:buChar char="•"/>
            </a:pPr>
            <a:r>
              <a:rPr lang="en-US" altLang="en-US" dirty="0">
                <a:latin typeface="Arial" panose="020B0604020202020204" pitchFamily="34" charset="0"/>
              </a:rPr>
              <a:t>Pricing pressure</a:t>
            </a:r>
          </a:p>
          <a:p>
            <a:pPr>
              <a:lnSpc>
                <a:spcPct val="250000"/>
              </a:lnSpc>
            </a:pPr>
            <a:endParaRPr lang="en-US" dirty="0"/>
          </a:p>
        </p:txBody>
      </p:sp>
      <p:sp>
        <p:nvSpPr>
          <p:cNvPr id="12" name="Freeform 6">
            <a:extLst>
              <a:ext uri="{FF2B5EF4-FFF2-40B4-BE49-F238E27FC236}">
                <a16:creationId xmlns:a16="http://schemas.microsoft.com/office/drawing/2014/main" id="{F9EC5D80-1399-B5CE-86DA-EEA259977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46588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7EB113E-E256-C3D1-AA30-80B66A1502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F3089A-3E73-F6F9-D87E-E4522E113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DB49D12-2516-CEBF-FB46-A74506941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E3A7DA-105C-7B90-B591-643E066A3937}"/>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Decline</a:t>
            </a:r>
          </a:p>
        </p:txBody>
      </p:sp>
      <p:sp>
        <p:nvSpPr>
          <p:cNvPr id="3" name="Content Placeholder 2">
            <a:extLst>
              <a:ext uri="{FF2B5EF4-FFF2-40B4-BE49-F238E27FC236}">
                <a16:creationId xmlns:a16="http://schemas.microsoft.com/office/drawing/2014/main" id="{7FDC2235-FE68-1890-97BA-B720E6869109}"/>
              </a:ext>
            </a:extLst>
          </p:cNvPr>
          <p:cNvSpPr>
            <a:spLocks noGrp="1"/>
          </p:cNvSpPr>
          <p:nvPr>
            <p:ph idx="1"/>
          </p:nvPr>
        </p:nvSpPr>
        <p:spPr>
          <a:xfrm>
            <a:off x="758824" y="2607732"/>
            <a:ext cx="8412480" cy="3174357"/>
          </a:xfrm>
        </p:spPr>
        <p:txBody>
          <a:bodyPr>
            <a:normAutofit/>
          </a:bodyPr>
          <a:lstStyle/>
          <a:p>
            <a:pPr marL="0" indent="0" algn="ctr">
              <a:lnSpc>
                <a:spcPct val="200000"/>
              </a:lnSpc>
              <a:buNone/>
            </a:pPr>
            <a:r>
              <a:rPr lang="en-US" b="1" dirty="0"/>
              <a:t>Stage 4: Decline</a:t>
            </a:r>
            <a:endParaRPr lang="en-US" dirty="0"/>
          </a:p>
          <a:p>
            <a:pPr>
              <a:lnSpc>
                <a:spcPct val="200000"/>
              </a:lnSpc>
            </a:pPr>
            <a:r>
              <a:rPr lang="en-US" b="1" dirty="0"/>
              <a:t>My #1 Challenge:</a:t>
            </a:r>
            <a:r>
              <a:rPr lang="en-US" dirty="0"/>
              <a:t> Decreasing Demand</a:t>
            </a:r>
          </a:p>
          <a:p>
            <a:pPr marL="0" lvl="0" indent="0" eaLnBrk="0" fontAlgn="base" hangingPunct="0">
              <a:spcBef>
                <a:spcPct val="0"/>
              </a:spcBef>
              <a:spcAft>
                <a:spcPts val="600"/>
              </a:spcAft>
              <a:buFontTx/>
              <a:buChar char="•"/>
            </a:pPr>
            <a:r>
              <a:rPr lang="en-US" altLang="en-US" dirty="0">
                <a:latin typeface="Arial" panose="020B0604020202020204" pitchFamily="34" charset="0"/>
              </a:rPr>
              <a:t>Reduced consulting contracts</a:t>
            </a:r>
          </a:p>
          <a:p>
            <a:pPr marL="0" lvl="0" indent="0" eaLnBrk="0" fontAlgn="base" hangingPunct="0">
              <a:spcBef>
                <a:spcPct val="0"/>
              </a:spcBef>
              <a:spcAft>
                <a:spcPts val="600"/>
              </a:spcAft>
              <a:buFontTx/>
              <a:buChar char="•"/>
            </a:pPr>
            <a:r>
              <a:rPr lang="en-US" altLang="en-US" dirty="0">
                <a:latin typeface="Arial" panose="020B0604020202020204" pitchFamily="34" charset="0"/>
              </a:rPr>
              <a:t>Economic downturn</a:t>
            </a:r>
          </a:p>
          <a:p>
            <a:pPr marL="0" lvl="0" indent="0" eaLnBrk="0" fontAlgn="base" hangingPunct="0">
              <a:spcBef>
                <a:spcPct val="0"/>
              </a:spcBef>
              <a:spcAft>
                <a:spcPts val="600"/>
              </a:spcAft>
              <a:buFontTx/>
              <a:buChar char="•"/>
            </a:pPr>
            <a:r>
              <a:rPr lang="en-US" altLang="en-US" dirty="0">
                <a:latin typeface="Arial" panose="020B0604020202020204" pitchFamily="34" charset="0"/>
              </a:rPr>
              <a:t>Budget cuts by clients</a:t>
            </a:r>
          </a:p>
          <a:p>
            <a:pPr>
              <a:lnSpc>
                <a:spcPct val="200000"/>
              </a:lnSpc>
            </a:pPr>
            <a:endParaRPr lang="en-US" dirty="0"/>
          </a:p>
        </p:txBody>
      </p:sp>
      <p:sp>
        <p:nvSpPr>
          <p:cNvPr id="12" name="Freeform 6">
            <a:extLst>
              <a:ext uri="{FF2B5EF4-FFF2-40B4-BE49-F238E27FC236}">
                <a16:creationId xmlns:a16="http://schemas.microsoft.com/office/drawing/2014/main" id="{92E8B62C-2D8D-FC3A-CA4F-31D3C71CBE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736016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F571F26-63BF-64CB-B10E-D3B7D1E475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D0BC3F-DFE3-FA35-B9B9-45F629B60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8A7E9E-73A7-7B55-D1B0-CA6B6548D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F8B69D-7DAE-71BE-ACC5-E8CE7A837FDC}"/>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Renew</a:t>
            </a:r>
          </a:p>
        </p:txBody>
      </p:sp>
      <p:sp>
        <p:nvSpPr>
          <p:cNvPr id="3" name="Content Placeholder 2">
            <a:extLst>
              <a:ext uri="{FF2B5EF4-FFF2-40B4-BE49-F238E27FC236}">
                <a16:creationId xmlns:a16="http://schemas.microsoft.com/office/drawing/2014/main" id="{3B788BC7-DC32-808B-53BD-4C976CF9C405}"/>
              </a:ext>
            </a:extLst>
          </p:cNvPr>
          <p:cNvSpPr>
            <a:spLocks noGrp="1"/>
          </p:cNvSpPr>
          <p:nvPr>
            <p:ph idx="1"/>
          </p:nvPr>
        </p:nvSpPr>
        <p:spPr>
          <a:xfrm>
            <a:off x="758824" y="2607732"/>
            <a:ext cx="8412480" cy="3174357"/>
          </a:xfrm>
        </p:spPr>
        <p:txBody>
          <a:bodyPr>
            <a:normAutofit/>
          </a:bodyPr>
          <a:lstStyle/>
          <a:p>
            <a:pPr marL="0" indent="0" algn="ctr">
              <a:lnSpc>
                <a:spcPct val="250000"/>
              </a:lnSpc>
              <a:buNone/>
            </a:pPr>
            <a:r>
              <a:rPr lang="en-US" b="1" dirty="0"/>
              <a:t>Stage 5: Renew</a:t>
            </a:r>
            <a:endParaRPr lang="en-US" dirty="0"/>
          </a:p>
          <a:p>
            <a:pPr lvl="0"/>
            <a:r>
              <a:rPr lang="en-US" b="1" dirty="0"/>
              <a:t>My #1 Challenge:</a:t>
            </a:r>
            <a:r>
              <a:rPr lang="en-US" dirty="0"/>
              <a:t> Industry Shifts &amp; Changing Client Needs</a:t>
            </a:r>
          </a:p>
          <a:p>
            <a:pPr lvl="0"/>
            <a:r>
              <a:rPr lang="en-US" dirty="0"/>
              <a:t>AI integration</a:t>
            </a:r>
          </a:p>
          <a:p>
            <a:pPr lvl="0"/>
            <a:r>
              <a:rPr lang="en-US" dirty="0"/>
              <a:t>Remote workforce growth</a:t>
            </a:r>
          </a:p>
          <a:p>
            <a:pPr lvl="0"/>
            <a:r>
              <a:rPr lang="en-US" dirty="0"/>
              <a:t>Evolving compliance laws</a:t>
            </a:r>
          </a:p>
          <a:p>
            <a:pPr>
              <a:lnSpc>
                <a:spcPct val="250000"/>
              </a:lnSpc>
            </a:pPr>
            <a:endParaRPr lang="en-US" dirty="0"/>
          </a:p>
        </p:txBody>
      </p:sp>
      <p:sp>
        <p:nvSpPr>
          <p:cNvPr id="12" name="Freeform 6">
            <a:extLst>
              <a:ext uri="{FF2B5EF4-FFF2-40B4-BE49-F238E27FC236}">
                <a16:creationId xmlns:a16="http://schemas.microsoft.com/office/drawing/2014/main" id="{B3A51ADB-1033-2170-9265-8E440100E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449548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370118E-C432-212E-0394-92DD7FA95B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8B0AEE-BEC7-C8DD-BF0C-FD12C8B7F7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6BD9F3-D79F-EBD5-4DCE-7E02185BE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F6CE14-7214-9E2B-5B9D-5B3B02C8E39B}"/>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Human Capitol</a:t>
            </a:r>
          </a:p>
        </p:txBody>
      </p:sp>
      <p:sp>
        <p:nvSpPr>
          <p:cNvPr id="3" name="Content Placeholder 2">
            <a:extLst>
              <a:ext uri="{FF2B5EF4-FFF2-40B4-BE49-F238E27FC236}">
                <a16:creationId xmlns:a16="http://schemas.microsoft.com/office/drawing/2014/main" id="{66D23563-0413-10F1-37CC-42E9BBCFA8E7}"/>
              </a:ext>
            </a:extLst>
          </p:cNvPr>
          <p:cNvSpPr>
            <a:spLocks noGrp="1"/>
          </p:cNvSpPr>
          <p:nvPr>
            <p:ph idx="1"/>
          </p:nvPr>
        </p:nvSpPr>
        <p:spPr>
          <a:xfrm>
            <a:off x="758824" y="2607732"/>
            <a:ext cx="8412480" cy="3174357"/>
          </a:xfrm>
        </p:spPr>
        <p:txBody>
          <a:bodyPr>
            <a:normAutofit/>
          </a:bodyPr>
          <a:lstStyle/>
          <a:p>
            <a:pPr marL="0" indent="0" algn="ctr">
              <a:lnSpc>
                <a:spcPct val="200000"/>
              </a:lnSpc>
              <a:buNone/>
            </a:pPr>
            <a:r>
              <a:rPr lang="en-US" b="1" dirty="0"/>
              <a:t>Stage 6: Human Capitol</a:t>
            </a:r>
            <a:endParaRPr lang="en-US" dirty="0"/>
          </a:p>
          <a:p>
            <a:pPr lvl="0"/>
            <a:r>
              <a:rPr lang="en-US" b="1" dirty="0"/>
              <a:t>My #1 Challenge:</a:t>
            </a:r>
            <a:r>
              <a:rPr lang="en-US" dirty="0"/>
              <a:t> Recruiting &amp; Retaining Skilled Consultants</a:t>
            </a:r>
          </a:p>
          <a:p>
            <a:pPr lvl="0"/>
            <a:r>
              <a:rPr lang="en-US" dirty="0"/>
              <a:t>Specialized expertise required</a:t>
            </a:r>
          </a:p>
          <a:p>
            <a:pPr lvl="0"/>
            <a:r>
              <a:rPr lang="en-US" dirty="0"/>
              <a:t>High compensation expectations</a:t>
            </a:r>
          </a:p>
          <a:p>
            <a:pPr lvl="0"/>
            <a:r>
              <a:rPr lang="en-US" dirty="0"/>
              <a:t>Burnout risk</a:t>
            </a:r>
          </a:p>
          <a:p>
            <a:pPr>
              <a:lnSpc>
                <a:spcPct val="200000"/>
              </a:lnSpc>
            </a:pPr>
            <a:endParaRPr lang="en-US" dirty="0"/>
          </a:p>
        </p:txBody>
      </p:sp>
      <p:sp>
        <p:nvSpPr>
          <p:cNvPr id="12" name="Freeform 6">
            <a:extLst>
              <a:ext uri="{FF2B5EF4-FFF2-40B4-BE49-F238E27FC236}">
                <a16:creationId xmlns:a16="http://schemas.microsoft.com/office/drawing/2014/main" id="{23469B41-D7A5-7649-79F5-53A18DF70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869723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5690408-572D-5A8E-C1B0-F8EADC199B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941C7A-95A8-FC4C-09F5-DD23A1F0F7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B77E10-056A-5F75-3F8C-3374C8CD2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6CA16-2725-2DAF-2349-39E850E13169}"/>
              </a:ext>
            </a:extLst>
          </p:cNvPr>
          <p:cNvSpPr>
            <a:spLocks noGrp="1"/>
          </p:cNvSpPr>
          <p:nvPr>
            <p:ph type="title"/>
          </p:nvPr>
        </p:nvSpPr>
        <p:spPr>
          <a:xfrm>
            <a:off x="758952" y="379475"/>
            <a:ext cx="10671048" cy="1554480"/>
          </a:xfrm>
        </p:spPr>
        <p:txBody>
          <a:bodyPr anchor="ctr">
            <a:normAutofit fontScale="90000"/>
          </a:bodyPr>
          <a:lstStyle/>
          <a:p>
            <a:pPr algn="ctr"/>
            <a:r>
              <a:rPr lang="en-US" dirty="0">
                <a:solidFill>
                  <a:schemeClr val="bg1"/>
                </a:solidFill>
              </a:rPr>
              <a:t>Organizational Structure &amp; Governance</a:t>
            </a:r>
          </a:p>
        </p:txBody>
      </p:sp>
      <p:sp>
        <p:nvSpPr>
          <p:cNvPr id="3" name="Content Placeholder 2">
            <a:extLst>
              <a:ext uri="{FF2B5EF4-FFF2-40B4-BE49-F238E27FC236}">
                <a16:creationId xmlns:a16="http://schemas.microsoft.com/office/drawing/2014/main" id="{A28447AF-448A-DD81-5832-E71958A40B9B}"/>
              </a:ext>
            </a:extLst>
          </p:cNvPr>
          <p:cNvSpPr>
            <a:spLocks noGrp="1"/>
          </p:cNvSpPr>
          <p:nvPr>
            <p:ph idx="1"/>
          </p:nvPr>
        </p:nvSpPr>
        <p:spPr>
          <a:xfrm>
            <a:off x="758824" y="2607732"/>
            <a:ext cx="8412480" cy="3174357"/>
          </a:xfrm>
        </p:spPr>
        <p:txBody>
          <a:bodyPr>
            <a:normAutofit/>
          </a:bodyPr>
          <a:lstStyle/>
          <a:p>
            <a:pPr marL="0" indent="0" algn="ctr">
              <a:lnSpc>
                <a:spcPct val="200000"/>
              </a:lnSpc>
              <a:buNone/>
            </a:pPr>
            <a:r>
              <a:rPr lang="en-US" b="1" dirty="0"/>
              <a:t>Stage 6: Organizational Structure &amp; Governance</a:t>
            </a:r>
            <a:endParaRPr lang="en-US" dirty="0"/>
          </a:p>
          <a:p>
            <a:pPr lvl="0"/>
            <a:r>
              <a:rPr lang="en-US" b="1" dirty="0"/>
              <a:t>My #1 </a:t>
            </a:r>
            <a:r>
              <a:rPr lang="en-US" b="1" dirty="0" err="1"/>
              <a:t>Chgallange</a:t>
            </a:r>
            <a:r>
              <a:rPr lang="en-US" b="1" dirty="0"/>
              <a:t>:</a:t>
            </a:r>
            <a:r>
              <a:rPr lang="en-US" dirty="0"/>
              <a:t> Maintaining Strategic Alignment</a:t>
            </a:r>
          </a:p>
          <a:p>
            <a:pPr marL="0" lvl="0" indent="0" eaLnBrk="0" fontAlgn="base" hangingPunct="0">
              <a:spcBef>
                <a:spcPct val="0"/>
              </a:spcBef>
              <a:spcAft>
                <a:spcPts val="600"/>
              </a:spcAft>
              <a:buFontTx/>
              <a:buChar char="•"/>
            </a:pPr>
            <a:r>
              <a:rPr lang="en-US" altLang="en-US" dirty="0">
                <a:latin typeface="Arial" panose="020B0604020202020204" pitchFamily="34" charset="0"/>
              </a:rPr>
              <a:t>Clear reporting lines</a:t>
            </a:r>
          </a:p>
          <a:p>
            <a:pPr marL="0" lvl="0" indent="0" eaLnBrk="0" fontAlgn="base" hangingPunct="0">
              <a:spcBef>
                <a:spcPct val="0"/>
              </a:spcBef>
              <a:spcAft>
                <a:spcPts val="600"/>
              </a:spcAft>
              <a:buFontTx/>
              <a:buChar char="•"/>
            </a:pPr>
            <a:r>
              <a:rPr lang="en-US" altLang="en-US" dirty="0">
                <a:latin typeface="Arial" panose="020B0604020202020204" pitchFamily="34" charset="0"/>
              </a:rPr>
              <a:t>Defined authority</a:t>
            </a:r>
          </a:p>
          <a:p>
            <a:pPr marL="0" lvl="0" indent="0" eaLnBrk="0" fontAlgn="base" hangingPunct="0">
              <a:spcBef>
                <a:spcPct val="0"/>
              </a:spcBef>
              <a:spcAft>
                <a:spcPts val="600"/>
              </a:spcAft>
              <a:buFontTx/>
              <a:buChar char="•"/>
            </a:pPr>
            <a:r>
              <a:rPr lang="en-US" altLang="en-US" dirty="0">
                <a:latin typeface="Arial" panose="020B0604020202020204" pitchFamily="34" charset="0"/>
              </a:rPr>
              <a:t>Decision-making accountability</a:t>
            </a:r>
          </a:p>
          <a:p>
            <a:pPr lvl="0"/>
            <a:endParaRPr lang="en-US" dirty="0"/>
          </a:p>
          <a:p>
            <a:pPr>
              <a:lnSpc>
                <a:spcPct val="200000"/>
              </a:lnSpc>
            </a:pPr>
            <a:endParaRPr lang="en-US" dirty="0"/>
          </a:p>
        </p:txBody>
      </p:sp>
      <p:sp>
        <p:nvSpPr>
          <p:cNvPr id="12" name="Freeform 6">
            <a:extLst>
              <a:ext uri="{FF2B5EF4-FFF2-40B4-BE49-F238E27FC236}">
                <a16:creationId xmlns:a16="http://schemas.microsoft.com/office/drawing/2014/main" id="{972C1072-014B-85E5-8CA8-4BECA71ED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357582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0A8282D-C6CC-4DE7-6BFF-0B8F166D4D6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52084D-4069-5F45-155F-F76FFF5D6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CD73D5C-3664-9A64-22A5-E113F94AE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48E2E2-8191-C1C0-296A-F2ECA6305797}"/>
              </a:ext>
            </a:extLst>
          </p:cNvPr>
          <p:cNvSpPr>
            <a:spLocks noGrp="1"/>
          </p:cNvSpPr>
          <p:nvPr>
            <p:ph type="title"/>
          </p:nvPr>
        </p:nvSpPr>
        <p:spPr>
          <a:xfrm>
            <a:off x="758952" y="379475"/>
            <a:ext cx="10671048" cy="1554480"/>
          </a:xfrm>
        </p:spPr>
        <p:txBody>
          <a:bodyPr anchor="ctr">
            <a:normAutofit/>
          </a:bodyPr>
          <a:lstStyle/>
          <a:p>
            <a:pPr algn="ctr"/>
            <a:r>
              <a:rPr lang="en-US" dirty="0">
                <a:solidFill>
                  <a:schemeClr val="bg1"/>
                </a:solidFill>
              </a:rPr>
              <a:t>Cybersecurity &amp; Asset Protection</a:t>
            </a:r>
          </a:p>
        </p:txBody>
      </p:sp>
      <p:sp>
        <p:nvSpPr>
          <p:cNvPr id="3" name="Content Placeholder 2">
            <a:extLst>
              <a:ext uri="{FF2B5EF4-FFF2-40B4-BE49-F238E27FC236}">
                <a16:creationId xmlns:a16="http://schemas.microsoft.com/office/drawing/2014/main" id="{4EEF4D52-676E-7F53-6FDE-0BDCD61F9643}"/>
              </a:ext>
            </a:extLst>
          </p:cNvPr>
          <p:cNvSpPr>
            <a:spLocks noGrp="1"/>
          </p:cNvSpPr>
          <p:nvPr>
            <p:ph idx="1"/>
          </p:nvPr>
        </p:nvSpPr>
        <p:spPr>
          <a:xfrm>
            <a:off x="758824" y="2607732"/>
            <a:ext cx="8412480" cy="3174357"/>
          </a:xfrm>
        </p:spPr>
        <p:txBody>
          <a:bodyPr>
            <a:normAutofit/>
          </a:bodyPr>
          <a:lstStyle/>
          <a:p>
            <a:pPr marL="0" indent="0" algn="ctr">
              <a:lnSpc>
                <a:spcPct val="200000"/>
              </a:lnSpc>
              <a:buNone/>
            </a:pPr>
            <a:r>
              <a:rPr lang="en-US" b="1" dirty="0"/>
              <a:t>Stage 6: Cybersecurity &amp; Asset Protection</a:t>
            </a:r>
          </a:p>
          <a:p>
            <a:pPr marL="0" indent="0">
              <a:lnSpc>
                <a:spcPct val="200000"/>
              </a:lnSpc>
              <a:buNone/>
            </a:pPr>
            <a:r>
              <a:rPr lang="en-US" b="1" dirty="0"/>
              <a:t>My #1 Challenge:</a:t>
            </a:r>
            <a:r>
              <a:rPr lang="en-US" dirty="0"/>
              <a:t> Protecting Client Data</a:t>
            </a:r>
          </a:p>
          <a:p>
            <a:pPr marL="0" lvl="0" indent="0" eaLnBrk="0" fontAlgn="base" hangingPunct="0">
              <a:spcBef>
                <a:spcPct val="0"/>
              </a:spcBef>
              <a:spcAft>
                <a:spcPts val="600"/>
              </a:spcAft>
              <a:buFontTx/>
              <a:buChar char="•"/>
            </a:pPr>
            <a:r>
              <a:rPr lang="en-US" altLang="en-US" dirty="0">
                <a:latin typeface="Arial" panose="020B0604020202020204" pitchFamily="34" charset="0"/>
              </a:rPr>
              <a:t>Sensitive financial data</a:t>
            </a:r>
          </a:p>
          <a:p>
            <a:pPr marL="0" lvl="0" indent="0" eaLnBrk="0" fontAlgn="base" hangingPunct="0">
              <a:spcBef>
                <a:spcPct val="0"/>
              </a:spcBef>
              <a:spcAft>
                <a:spcPts val="600"/>
              </a:spcAft>
              <a:buFontTx/>
              <a:buChar char="•"/>
            </a:pPr>
            <a:r>
              <a:rPr lang="en-US" altLang="en-US" dirty="0">
                <a:latin typeface="Arial" panose="020B0604020202020204" pitchFamily="34" charset="0"/>
              </a:rPr>
              <a:t>Confidential business strategies</a:t>
            </a:r>
          </a:p>
          <a:p>
            <a:pPr marL="0" lvl="0" indent="0" eaLnBrk="0" fontAlgn="base" hangingPunct="0">
              <a:spcBef>
                <a:spcPct val="0"/>
              </a:spcBef>
              <a:spcAft>
                <a:spcPts val="600"/>
              </a:spcAft>
              <a:buFontTx/>
              <a:buChar char="•"/>
            </a:pPr>
            <a:r>
              <a:rPr lang="en-US" altLang="en-US" dirty="0">
                <a:latin typeface="Arial" panose="020B0604020202020204" pitchFamily="34" charset="0"/>
              </a:rPr>
              <a:t>Secure digital platforms</a:t>
            </a:r>
          </a:p>
          <a:p>
            <a:pPr lvl="0"/>
            <a:endParaRPr lang="en-US" dirty="0"/>
          </a:p>
          <a:p>
            <a:pPr>
              <a:lnSpc>
                <a:spcPct val="200000"/>
              </a:lnSpc>
            </a:pPr>
            <a:endParaRPr lang="en-US" dirty="0"/>
          </a:p>
        </p:txBody>
      </p:sp>
      <p:sp>
        <p:nvSpPr>
          <p:cNvPr id="12" name="Freeform 6">
            <a:extLst>
              <a:ext uri="{FF2B5EF4-FFF2-40B4-BE49-F238E27FC236}">
                <a16:creationId xmlns:a16="http://schemas.microsoft.com/office/drawing/2014/main" id="{0955156D-D3CB-8C4B-9B2F-80EF88D42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881314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20635CB-138E-7D21-4FFD-6B58D16FD5A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6F92A2-CE23-C688-4D46-31A7CC63A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EDC4E6-C029-799A-6797-52ABE8F369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881E70-63ED-1FEB-0852-73B9EDCCB7B9}"/>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Summary/Lessons Learned</a:t>
            </a:r>
          </a:p>
        </p:txBody>
      </p:sp>
      <p:sp>
        <p:nvSpPr>
          <p:cNvPr id="3" name="Content Placeholder 2">
            <a:extLst>
              <a:ext uri="{FF2B5EF4-FFF2-40B4-BE49-F238E27FC236}">
                <a16:creationId xmlns:a16="http://schemas.microsoft.com/office/drawing/2014/main" id="{8B358B4F-8AF3-63DF-C553-A1983D4B5EC3}"/>
              </a:ext>
            </a:extLst>
          </p:cNvPr>
          <p:cNvSpPr>
            <a:spLocks noGrp="1"/>
          </p:cNvSpPr>
          <p:nvPr>
            <p:ph idx="1"/>
          </p:nvPr>
        </p:nvSpPr>
        <p:spPr>
          <a:xfrm>
            <a:off x="758824" y="2607732"/>
            <a:ext cx="8412480" cy="3174357"/>
          </a:xfrm>
        </p:spPr>
        <p:txBody>
          <a:bodyPr>
            <a:normAutofit fontScale="85000" lnSpcReduction="10000"/>
          </a:bodyPr>
          <a:lstStyle/>
          <a:p>
            <a:pPr>
              <a:lnSpc>
                <a:spcPct val="200000"/>
              </a:lnSpc>
            </a:pPr>
            <a:r>
              <a:rPr lang="en-US" b="1" dirty="0"/>
              <a:t>Summary / Lessons Learned</a:t>
            </a:r>
            <a:endParaRPr lang="en-US" dirty="0"/>
          </a:p>
          <a:p>
            <a:pPr>
              <a:lnSpc>
                <a:spcPct val="200000"/>
              </a:lnSpc>
            </a:pPr>
            <a:r>
              <a:rPr lang="en-US" dirty="0"/>
              <a:t>• Leadership decisions must evolve with each lifecycle stage</a:t>
            </a:r>
            <a:br>
              <a:rPr lang="en-US" dirty="0"/>
            </a:br>
            <a:r>
              <a:rPr lang="en-US" dirty="0"/>
              <a:t>• Structure protects quality during growth</a:t>
            </a:r>
            <a:br>
              <a:rPr lang="en-US" dirty="0"/>
            </a:br>
            <a:r>
              <a:rPr lang="en-US" dirty="0"/>
              <a:t>• Differentiation protects profitability at maturity</a:t>
            </a:r>
            <a:br>
              <a:rPr lang="en-US" dirty="0"/>
            </a:br>
            <a:r>
              <a:rPr lang="en-US" dirty="0"/>
              <a:t>• Diversification stabilizes decline</a:t>
            </a:r>
            <a:br>
              <a:rPr lang="en-US" dirty="0"/>
            </a:br>
            <a:r>
              <a:rPr lang="en-US" dirty="0"/>
              <a:t>• Innovation drives renewal</a:t>
            </a:r>
          </a:p>
        </p:txBody>
      </p:sp>
      <p:sp>
        <p:nvSpPr>
          <p:cNvPr id="12" name="Freeform 6">
            <a:extLst>
              <a:ext uri="{FF2B5EF4-FFF2-40B4-BE49-F238E27FC236}">
                <a16:creationId xmlns:a16="http://schemas.microsoft.com/office/drawing/2014/main" id="{D93AFC34-71FC-984B-1878-889C9A953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4236886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FC1A805-8051-AA11-50E2-6CC014E8386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DE156B-E990-22A1-7BB2-67E26171F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3E040E8-0E2A-1191-52C2-C330DAE2B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0C219D-7670-0DBD-031C-FC9EFB892D8C}"/>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References</a:t>
            </a:r>
          </a:p>
        </p:txBody>
      </p:sp>
      <p:sp>
        <p:nvSpPr>
          <p:cNvPr id="3" name="Content Placeholder 2">
            <a:extLst>
              <a:ext uri="{FF2B5EF4-FFF2-40B4-BE49-F238E27FC236}">
                <a16:creationId xmlns:a16="http://schemas.microsoft.com/office/drawing/2014/main" id="{64C6B45C-3ADA-1F17-43BE-12FC4A61E864}"/>
              </a:ext>
            </a:extLst>
          </p:cNvPr>
          <p:cNvSpPr>
            <a:spLocks noGrp="1"/>
          </p:cNvSpPr>
          <p:nvPr>
            <p:ph idx="1"/>
          </p:nvPr>
        </p:nvSpPr>
        <p:spPr>
          <a:xfrm>
            <a:off x="758824" y="2607732"/>
            <a:ext cx="8412480" cy="3174357"/>
          </a:xfrm>
        </p:spPr>
        <p:txBody>
          <a:bodyPr>
            <a:normAutofit fontScale="77500" lnSpcReduction="20000"/>
          </a:bodyPr>
          <a:lstStyle/>
          <a:p>
            <a:pPr marL="0">
              <a:lnSpc>
                <a:spcPct val="120000"/>
              </a:lnSpc>
              <a:spcBef>
                <a:spcPts val="0"/>
              </a:spcBef>
              <a:spcAft>
                <a:spcPts val="0"/>
              </a:spcAft>
            </a:pPr>
            <a:r>
              <a:rPr lang="en-US" dirty="0"/>
              <a:t>Harvard Business Review. (2019, July 2). </a:t>
            </a:r>
            <a:r>
              <a:rPr lang="en-US" i="1" dirty="0"/>
              <a:t>The explainer: What is a business model?</a:t>
            </a:r>
            <a:r>
              <a:rPr lang="en-US" dirty="0"/>
              <a:t> [Video]. YouTube. </a:t>
            </a:r>
            <a:r>
              <a:rPr lang="en-US" dirty="0">
                <a:hlinkClick r:id="rId3"/>
              </a:rPr>
              <a:t>https://www.youtube.com/watch?v=_C-vGu2mL38</a:t>
            </a:r>
            <a:endParaRPr lang="en-US" dirty="0"/>
          </a:p>
          <a:p>
            <a:pPr marL="0">
              <a:lnSpc>
                <a:spcPct val="120000"/>
              </a:lnSpc>
              <a:spcBef>
                <a:spcPts val="0"/>
              </a:spcBef>
              <a:spcAft>
                <a:spcPts val="0"/>
              </a:spcAft>
            </a:pPr>
            <a:r>
              <a:rPr lang="en-US" dirty="0"/>
              <a:t>OpenStax. (n.d.). </a:t>
            </a:r>
            <a:r>
              <a:rPr lang="en-US" i="1" dirty="0"/>
              <a:t>Principles of business</a:t>
            </a:r>
            <a:r>
              <a:rPr lang="en-US" dirty="0"/>
              <a:t>. OpenStax. </a:t>
            </a:r>
            <a:r>
              <a:rPr lang="en-US" dirty="0">
                <a:hlinkClick r:id="rId4"/>
              </a:rPr>
              <a:t>https://openstax.org</a:t>
            </a:r>
            <a:endParaRPr lang="en-US" dirty="0"/>
          </a:p>
          <a:p>
            <a:pPr marL="0">
              <a:lnSpc>
                <a:spcPct val="120000"/>
              </a:lnSpc>
              <a:spcBef>
                <a:spcPts val="0"/>
              </a:spcBef>
              <a:spcAft>
                <a:spcPts val="0"/>
              </a:spcAft>
            </a:pPr>
            <a:r>
              <a:rPr lang="en-US" dirty="0"/>
              <a:t>Mehta, K. (2024, April 12). </a:t>
            </a:r>
            <a:r>
              <a:rPr lang="en-US" i="1" dirty="0"/>
              <a:t>Porter’s five forces – Definition, explained, example, model</a:t>
            </a:r>
            <a:r>
              <a:rPr lang="en-US" dirty="0"/>
              <a:t>. </a:t>
            </a:r>
            <a:r>
              <a:rPr lang="en-US" dirty="0" err="1"/>
              <a:t>WallStreetMojo</a:t>
            </a:r>
            <a:r>
              <a:rPr lang="en-US" dirty="0"/>
              <a:t>. </a:t>
            </a:r>
            <a:r>
              <a:rPr lang="en-US" dirty="0">
                <a:hlinkClick r:id="rId5"/>
              </a:rPr>
              <a:t>https://www.wallstreetmojo.com/porters-five-forces/</a:t>
            </a:r>
            <a:endParaRPr lang="en-US" dirty="0"/>
          </a:p>
          <a:p>
            <a:pPr marL="0">
              <a:lnSpc>
                <a:spcPct val="120000"/>
              </a:lnSpc>
              <a:spcBef>
                <a:spcPts val="0"/>
              </a:spcBef>
              <a:spcAft>
                <a:spcPts val="0"/>
              </a:spcAft>
            </a:pPr>
            <a:r>
              <a:rPr lang="en-US" dirty="0"/>
              <a:t>Coursera Staff. (2024, March 26). </a:t>
            </a:r>
            <a:r>
              <a:rPr lang="en-US" i="1" dirty="0"/>
              <a:t>What is human resource management? Definition + career guide</a:t>
            </a:r>
            <a:r>
              <a:rPr lang="en-US" dirty="0"/>
              <a:t>. Coursera. </a:t>
            </a:r>
            <a:r>
              <a:rPr lang="en-US" dirty="0">
                <a:hlinkClick r:id="rId6"/>
              </a:rPr>
              <a:t>https://www.coursera.org/articles/human-resource-management</a:t>
            </a:r>
            <a:endParaRPr lang="en-US" dirty="0"/>
          </a:p>
          <a:p>
            <a:pPr marL="0">
              <a:lnSpc>
                <a:spcPct val="120000"/>
              </a:lnSpc>
              <a:spcBef>
                <a:spcPts val="0"/>
              </a:spcBef>
              <a:spcAft>
                <a:spcPts val="0"/>
              </a:spcAft>
            </a:pPr>
            <a:r>
              <a:rPr lang="en-US" dirty="0"/>
              <a:t>Ferruggia, G. (2024, April 17). </a:t>
            </a:r>
            <a:r>
              <a:rPr lang="en-US" i="1" dirty="0"/>
              <a:t>How to outsource human resources: A comprehensive guide</a:t>
            </a:r>
            <a:r>
              <a:rPr lang="en-US" dirty="0"/>
              <a:t>. </a:t>
            </a:r>
            <a:r>
              <a:rPr lang="en-US" dirty="0" err="1"/>
              <a:t>Hubstaff</a:t>
            </a:r>
            <a:r>
              <a:rPr lang="en-US" dirty="0"/>
              <a:t> Blog. </a:t>
            </a:r>
            <a:r>
              <a:rPr lang="en-US" dirty="0">
                <a:hlinkClick r:id="rId7"/>
              </a:rPr>
              <a:t>https://hubstaff.com/blog/how-to-outsource-human-resources/</a:t>
            </a:r>
            <a:endParaRPr lang="en-US" dirty="0"/>
          </a:p>
          <a:p>
            <a:pPr marL="0">
              <a:lnSpc>
                <a:spcPct val="120000"/>
              </a:lnSpc>
              <a:spcBef>
                <a:spcPts val="0"/>
              </a:spcBef>
              <a:spcAft>
                <a:spcPts val="0"/>
              </a:spcAft>
            </a:pPr>
            <a:r>
              <a:rPr lang="en-US" dirty="0"/>
              <a:t>U.S. Department of Labor. </a:t>
            </a:r>
            <a:r>
              <a:rPr lang="en-US" dirty="0">
                <a:hlinkClick r:id="rId8"/>
              </a:rPr>
              <a:t>https://www.dol.gov/agencies/odep/publications/fact-sheets/employment-laws-overview-and-resources-for-employers</a:t>
            </a:r>
            <a:endParaRPr lang="en-US" dirty="0"/>
          </a:p>
          <a:p>
            <a:pPr marL="0">
              <a:lnSpc>
                <a:spcPct val="120000"/>
              </a:lnSpc>
              <a:spcBef>
                <a:spcPts val="0"/>
              </a:spcBef>
              <a:spcAft>
                <a:spcPts val="0"/>
              </a:spcAft>
            </a:pPr>
            <a:endParaRPr lang="en-US" dirty="0"/>
          </a:p>
          <a:p>
            <a:pPr marL="0">
              <a:lnSpc>
                <a:spcPct val="120000"/>
              </a:lnSpc>
              <a:spcBef>
                <a:spcPts val="0"/>
              </a:spcBef>
              <a:spcAft>
                <a:spcPts val="0"/>
              </a:spcAft>
            </a:pPr>
            <a:endParaRPr lang="en-US" dirty="0"/>
          </a:p>
          <a:p>
            <a:pPr marL="0" indent="0">
              <a:lnSpc>
                <a:spcPct val="120000"/>
              </a:lnSpc>
              <a:spcBef>
                <a:spcPts val="0"/>
              </a:spcBef>
              <a:spcAft>
                <a:spcPts val="0"/>
              </a:spcAft>
              <a:buNone/>
            </a:pPr>
            <a:endParaRPr lang="en-US" dirty="0"/>
          </a:p>
          <a:p>
            <a:pPr marL="0">
              <a:lnSpc>
                <a:spcPct val="120000"/>
              </a:lnSpc>
              <a:spcBef>
                <a:spcPts val="0"/>
              </a:spcBef>
              <a:spcAft>
                <a:spcPts val="0"/>
              </a:spcAft>
            </a:pPr>
            <a:endParaRPr lang="en-US" dirty="0"/>
          </a:p>
        </p:txBody>
      </p:sp>
      <p:sp>
        <p:nvSpPr>
          <p:cNvPr id="12" name="Freeform 6">
            <a:extLst>
              <a:ext uri="{FF2B5EF4-FFF2-40B4-BE49-F238E27FC236}">
                <a16:creationId xmlns:a16="http://schemas.microsoft.com/office/drawing/2014/main" id="{CCF35A69-201A-9387-410E-36745CCCC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756843736"/>
      </p:ext>
    </p:extLst>
  </p:cSld>
  <p:clrMapOvr>
    <a:masterClrMapping/>
  </p:clrMapOvr>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325</TotalTime>
  <Words>1829</Words>
  <Application>Microsoft Macintosh PowerPoint</Application>
  <PresentationFormat>Widescreen</PresentationFormat>
  <Paragraphs>166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Avenir Next LT Pro</vt:lpstr>
      <vt:lpstr>Sitka Banner</vt:lpstr>
      <vt:lpstr>HeadlinesVTI</vt:lpstr>
      <vt:lpstr>Fidelis Strategic Consulting Group: The Entrepreneur’s Playbook By: Jonathan Williams BUSN100 I011 Winter 2026</vt:lpstr>
      <vt:lpstr>Fidelis Strategic Consulting Group Introduction</vt:lpstr>
      <vt:lpstr>Birth</vt:lpstr>
      <vt:lpstr>Growth</vt:lpstr>
      <vt:lpstr>Maturity</vt:lpstr>
      <vt:lpstr>Decline</vt:lpstr>
      <vt:lpstr>Renew</vt:lpstr>
      <vt:lpstr>Human Capitol</vt:lpstr>
      <vt:lpstr>Organizational Structure &amp; Governance</vt:lpstr>
      <vt:lpstr>Cybersecurity &amp; Asset Protection</vt:lpstr>
      <vt:lpstr>Summary/Lessons Learned</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Dr. Blanton</dc:creator>
  <cp:keywords/>
  <dc:description/>
  <cp:lastModifiedBy>Jonathan Williams</cp:lastModifiedBy>
  <cp:revision>5</cp:revision>
  <dcterms:created xsi:type="dcterms:W3CDTF">2025-10-30T18:09:13Z</dcterms:created>
  <dcterms:modified xsi:type="dcterms:W3CDTF">2026-02-20T00:05:39Z</dcterms:modified>
  <cp:category/>
</cp:coreProperties>
</file>