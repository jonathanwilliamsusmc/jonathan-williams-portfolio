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2" r:id="rId7"/>
    <p:sldId id="263" r:id="rId8"/>
    <p:sldId id="264"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4"/>
    <p:restoredTop sz="94699"/>
  </p:normalViewPr>
  <p:slideViewPr>
    <p:cSldViewPr snapToGrid="0">
      <p:cViewPr>
        <p:scale>
          <a:sx n="107" d="100"/>
          <a:sy n="107" d="100"/>
        </p:scale>
        <p:origin x="1784" y="83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7.svg"/><Relationship Id="rId5" Type="http://schemas.openxmlformats.org/officeDocument/2006/relationships/image" Target="../media/image1.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1.pn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7.svg"/><Relationship Id="rId5" Type="http://schemas.openxmlformats.org/officeDocument/2006/relationships/image" Target="../media/image1.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1.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53840A-ED8B-4920-BFBD-2F9A9DB1536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86A573F-6268-44C3-9629-C8961D96B422}">
      <dgm:prSet/>
      <dgm:spPr/>
      <dgm:t>
        <a:bodyPr/>
        <a:lstStyle/>
        <a:p>
          <a:pPr>
            <a:lnSpc>
              <a:spcPct val="100000"/>
            </a:lnSpc>
          </a:pPr>
          <a:r>
            <a:rPr lang="en-US"/>
            <a:t>AI tools are already embedded in higher education (writing support, tutoring, analytics).</a:t>
          </a:r>
        </a:p>
      </dgm:t>
    </dgm:pt>
    <dgm:pt modelId="{0772B438-4544-4395-96CE-613C4A24F15E}" type="parTrans" cxnId="{B7A49098-AAAD-4D34-9F7A-D40F6433490B}">
      <dgm:prSet/>
      <dgm:spPr/>
      <dgm:t>
        <a:bodyPr/>
        <a:lstStyle/>
        <a:p>
          <a:endParaRPr lang="en-US"/>
        </a:p>
      </dgm:t>
    </dgm:pt>
    <dgm:pt modelId="{BFC4EA78-DBEA-4B91-BA7B-12492F132E0F}" type="sibTrans" cxnId="{B7A49098-AAAD-4D34-9F7A-D40F6433490B}">
      <dgm:prSet/>
      <dgm:spPr/>
      <dgm:t>
        <a:bodyPr/>
        <a:lstStyle/>
        <a:p>
          <a:endParaRPr lang="en-US"/>
        </a:p>
      </dgm:t>
    </dgm:pt>
    <dgm:pt modelId="{F4516D37-751A-4F33-85CC-3A4D77EF72CD}">
      <dgm:prSet/>
      <dgm:spPr/>
      <dgm:t>
        <a:bodyPr/>
        <a:lstStyle/>
        <a:p>
          <a:pPr>
            <a:lnSpc>
              <a:spcPct val="100000"/>
            </a:lnSpc>
          </a:pPr>
          <a:r>
            <a:rPr lang="en-US"/>
            <a:t>Benefits are real, but risks include bias, privacy issues, and academic misuse.</a:t>
          </a:r>
        </a:p>
      </dgm:t>
    </dgm:pt>
    <dgm:pt modelId="{3D768D9D-72DB-40C8-A9B0-11D4CF8B801A}" type="parTrans" cxnId="{095337A0-FA3D-4F8D-A2E3-67D17AE72C57}">
      <dgm:prSet/>
      <dgm:spPr/>
      <dgm:t>
        <a:bodyPr/>
        <a:lstStyle/>
        <a:p>
          <a:endParaRPr lang="en-US"/>
        </a:p>
      </dgm:t>
    </dgm:pt>
    <dgm:pt modelId="{388B17D7-19D8-4CB2-96FE-BA73EF66B2A4}" type="sibTrans" cxnId="{095337A0-FA3D-4F8D-A2E3-67D17AE72C57}">
      <dgm:prSet/>
      <dgm:spPr/>
      <dgm:t>
        <a:bodyPr/>
        <a:lstStyle/>
        <a:p>
          <a:endParaRPr lang="en-US"/>
        </a:p>
      </dgm:t>
    </dgm:pt>
    <dgm:pt modelId="{C1F24B65-499E-4434-BAD9-DD9DC1ED35F2}">
      <dgm:prSet/>
      <dgm:spPr/>
      <dgm:t>
        <a:bodyPr/>
        <a:lstStyle/>
        <a:p>
          <a:pPr>
            <a:lnSpc>
              <a:spcPct val="100000"/>
            </a:lnSpc>
          </a:pPr>
          <a:r>
            <a:rPr lang="en-US"/>
            <a:t>The key question is not AI or no AI, it’s really, how do we use it responsibly?</a:t>
          </a:r>
        </a:p>
      </dgm:t>
    </dgm:pt>
    <dgm:pt modelId="{5858C6CE-371F-47A0-B831-18678EF64E2A}" type="parTrans" cxnId="{2C4B3843-ADCA-4EEF-85C9-6613F62D061A}">
      <dgm:prSet/>
      <dgm:spPr/>
      <dgm:t>
        <a:bodyPr/>
        <a:lstStyle/>
        <a:p>
          <a:endParaRPr lang="en-US"/>
        </a:p>
      </dgm:t>
    </dgm:pt>
    <dgm:pt modelId="{E729A88C-7AD2-4812-8CC8-817219166175}" type="sibTrans" cxnId="{2C4B3843-ADCA-4EEF-85C9-6613F62D061A}">
      <dgm:prSet/>
      <dgm:spPr/>
      <dgm:t>
        <a:bodyPr/>
        <a:lstStyle/>
        <a:p>
          <a:endParaRPr lang="en-US"/>
        </a:p>
      </dgm:t>
    </dgm:pt>
    <dgm:pt modelId="{4E9F0C1B-CA46-4762-B50C-AD73761BE514}" type="pres">
      <dgm:prSet presAssocID="{0653840A-ED8B-4920-BFBD-2F9A9DB1536C}" presName="root" presStyleCnt="0">
        <dgm:presLayoutVars>
          <dgm:dir/>
          <dgm:resizeHandles val="exact"/>
        </dgm:presLayoutVars>
      </dgm:prSet>
      <dgm:spPr/>
    </dgm:pt>
    <dgm:pt modelId="{E49E79B0-42A7-4BF3-8FBB-1F85A187A07A}" type="pres">
      <dgm:prSet presAssocID="{186A573F-6268-44C3-9629-C8961D96B422}" presName="compNode" presStyleCnt="0"/>
      <dgm:spPr/>
    </dgm:pt>
    <dgm:pt modelId="{12DA22EE-420C-47B3-BCC6-7E39D348AEE1}" type="pres">
      <dgm:prSet presAssocID="{186A573F-6268-44C3-9629-C8961D96B422}" presName="bgRect" presStyleLbl="bgShp" presStyleIdx="0" presStyleCnt="3"/>
      <dgm:spPr/>
    </dgm:pt>
    <dgm:pt modelId="{00E6CAA8-ADBF-48CE-91E8-EB21C3CB2103}" type="pres">
      <dgm:prSet presAssocID="{186A573F-6268-44C3-9629-C8961D96B42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1AAD6D40-0E9B-4E45-888B-7AFFB634343A}" type="pres">
      <dgm:prSet presAssocID="{186A573F-6268-44C3-9629-C8961D96B422}" presName="spaceRect" presStyleCnt="0"/>
      <dgm:spPr/>
    </dgm:pt>
    <dgm:pt modelId="{8129EBF3-3F75-4A8A-98B5-FAED8A7EAEBD}" type="pres">
      <dgm:prSet presAssocID="{186A573F-6268-44C3-9629-C8961D96B422}" presName="parTx" presStyleLbl="revTx" presStyleIdx="0" presStyleCnt="3">
        <dgm:presLayoutVars>
          <dgm:chMax val="0"/>
          <dgm:chPref val="0"/>
        </dgm:presLayoutVars>
      </dgm:prSet>
      <dgm:spPr/>
    </dgm:pt>
    <dgm:pt modelId="{D0C32448-4313-4818-820E-51591D543BEA}" type="pres">
      <dgm:prSet presAssocID="{BFC4EA78-DBEA-4B91-BA7B-12492F132E0F}" presName="sibTrans" presStyleCnt="0"/>
      <dgm:spPr/>
    </dgm:pt>
    <dgm:pt modelId="{480BB1BA-A26A-4362-96C2-FFEE972DC361}" type="pres">
      <dgm:prSet presAssocID="{F4516D37-751A-4F33-85CC-3A4D77EF72CD}" presName="compNode" presStyleCnt="0"/>
      <dgm:spPr/>
    </dgm:pt>
    <dgm:pt modelId="{BD93606C-DBDD-4284-ACA4-EDE6B0CA576E}" type="pres">
      <dgm:prSet presAssocID="{F4516D37-751A-4F33-85CC-3A4D77EF72CD}" presName="bgRect" presStyleLbl="bgShp" presStyleIdx="1" presStyleCnt="3"/>
      <dgm:spPr/>
    </dgm:pt>
    <dgm:pt modelId="{DBA1D475-C4E9-49AC-9172-91132A92FCA1}" type="pres">
      <dgm:prSet presAssocID="{F4516D37-751A-4F33-85CC-3A4D77EF72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Irritant"/>
        </a:ext>
      </dgm:extLst>
    </dgm:pt>
    <dgm:pt modelId="{628F17CA-3B7C-4732-97DA-556052A505C1}" type="pres">
      <dgm:prSet presAssocID="{F4516D37-751A-4F33-85CC-3A4D77EF72CD}" presName="spaceRect" presStyleCnt="0"/>
      <dgm:spPr/>
    </dgm:pt>
    <dgm:pt modelId="{C56E5CF6-2A26-46CF-845C-C2B2B8991FF3}" type="pres">
      <dgm:prSet presAssocID="{F4516D37-751A-4F33-85CC-3A4D77EF72CD}" presName="parTx" presStyleLbl="revTx" presStyleIdx="1" presStyleCnt="3">
        <dgm:presLayoutVars>
          <dgm:chMax val="0"/>
          <dgm:chPref val="0"/>
        </dgm:presLayoutVars>
      </dgm:prSet>
      <dgm:spPr/>
    </dgm:pt>
    <dgm:pt modelId="{BB744CE1-C6C3-4A60-98E4-9D69FE4B9D4E}" type="pres">
      <dgm:prSet presAssocID="{388B17D7-19D8-4CB2-96FE-BA73EF66B2A4}" presName="sibTrans" presStyleCnt="0"/>
      <dgm:spPr/>
    </dgm:pt>
    <dgm:pt modelId="{C951BE64-DBFB-49DA-9CE9-676A10431B3F}" type="pres">
      <dgm:prSet presAssocID="{C1F24B65-499E-4434-BAD9-DD9DC1ED35F2}" presName="compNode" presStyleCnt="0"/>
      <dgm:spPr/>
    </dgm:pt>
    <dgm:pt modelId="{670309E1-1858-42FF-BDD0-6D5E06A2899A}" type="pres">
      <dgm:prSet presAssocID="{C1F24B65-499E-4434-BAD9-DD9DC1ED35F2}" presName="bgRect" presStyleLbl="bgShp" presStyleIdx="2" presStyleCnt="3"/>
      <dgm:spPr/>
    </dgm:pt>
    <dgm:pt modelId="{45BBA85F-8FAD-488A-93BA-5D85F1817E3C}" type="pres">
      <dgm:prSet presAssocID="{C1F24B65-499E-4434-BAD9-DD9DC1ED35F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5B7C2D71-C451-41EA-9F90-A0B23EEDFA03}" type="pres">
      <dgm:prSet presAssocID="{C1F24B65-499E-4434-BAD9-DD9DC1ED35F2}" presName="spaceRect" presStyleCnt="0"/>
      <dgm:spPr/>
    </dgm:pt>
    <dgm:pt modelId="{ED3520B3-9DE3-41CD-B1AF-A6AFC487F11A}" type="pres">
      <dgm:prSet presAssocID="{C1F24B65-499E-4434-BAD9-DD9DC1ED35F2}" presName="parTx" presStyleLbl="revTx" presStyleIdx="2" presStyleCnt="3">
        <dgm:presLayoutVars>
          <dgm:chMax val="0"/>
          <dgm:chPref val="0"/>
        </dgm:presLayoutVars>
      </dgm:prSet>
      <dgm:spPr/>
    </dgm:pt>
  </dgm:ptLst>
  <dgm:cxnLst>
    <dgm:cxn modelId="{76DE5D09-0761-4B94-A84E-38DB8C3C33F9}" type="presOf" srcId="{C1F24B65-499E-4434-BAD9-DD9DC1ED35F2}" destId="{ED3520B3-9DE3-41CD-B1AF-A6AFC487F11A}" srcOrd="0" destOrd="0" presId="urn:microsoft.com/office/officeart/2018/2/layout/IconVerticalSolidList"/>
    <dgm:cxn modelId="{2C4B3843-ADCA-4EEF-85C9-6613F62D061A}" srcId="{0653840A-ED8B-4920-BFBD-2F9A9DB1536C}" destId="{C1F24B65-499E-4434-BAD9-DD9DC1ED35F2}" srcOrd="2" destOrd="0" parTransId="{5858C6CE-371F-47A0-B831-18678EF64E2A}" sibTransId="{E729A88C-7AD2-4812-8CC8-817219166175}"/>
    <dgm:cxn modelId="{B7A49098-AAAD-4D34-9F7A-D40F6433490B}" srcId="{0653840A-ED8B-4920-BFBD-2F9A9DB1536C}" destId="{186A573F-6268-44C3-9629-C8961D96B422}" srcOrd="0" destOrd="0" parTransId="{0772B438-4544-4395-96CE-613C4A24F15E}" sibTransId="{BFC4EA78-DBEA-4B91-BA7B-12492F132E0F}"/>
    <dgm:cxn modelId="{095337A0-FA3D-4F8D-A2E3-67D17AE72C57}" srcId="{0653840A-ED8B-4920-BFBD-2F9A9DB1536C}" destId="{F4516D37-751A-4F33-85CC-3A4D77EF72CD}" srcOrd="1" destOrd="0" parTransId="{3D768D9D-72DB-40C8-A9B0-11D4CF8B801A}" sibTransId="{388B17D7-19D8-4CB2-96FE-BA73EF66B2A4}"/>
    <dgm:cxn modelId="{5AD8C6BF-9211-4EBF-A084-51825F462C5A}" type="presOf" srcId="{0653840A-ED8B-4920-BFBD-2F9A9DB1536C}" destId="{4E9F0C1B-CA46-4762-B50C-AD73761BE514}" srcOrd="0" destOrd="0" presId="urn:microsoft.com/office/officeart/2018/2/layout/IconVerticalSolidList"/>
    <dgm:cxn modelId="{5D5B91C2-E9F5-484B-AF61-BBB667F5D729}" type="presOf" srcId="{F4516D37-751A-4F33-85CC-3A4D77EF72CD}" destId="{C56E5CF6-2A26-46CF-845C-C2B2B8991FF3}" srcOrd="0" destOrd="0" presId="urn:microsoft.com/office/officeart/2018/2/layout/IconVerticalSolidList"/>
    <dgm:cxn modelId="{6505C6EE-3252-4F07-A27A-582C0E99E978}" type="presOf" srcId="{186A573F-6268-44C3-9629-C8961D96B422}" destId="{8129EBF3-3F75-4A8A-98B5-FAED8A7EAEBD}" srcOrd="0" destOrd="0" presId="urn:microsoft.com/office/officeart/2018/2/layout/IconVerticalSolidList"/>
    <dgm:cxn modelId="{716AC179-D6EB-412A-BA57-0484937C6C58}" type="presParOf" srcId="{4E9F0C1B-CA46-4762-B50C-AD73761BE514}" destId="{E49E79B0-42A7-4BF3-8FBB-1F85A187A07A}" srcOrd="0" destOrd="0" presId="urn:microsoft.com/office/officeart/2018/2/layout/IconVerticalSolidList"/>
    <dgm:cxn modelId="{4EE8BC56-5151-4D90-8C1E-C785F4478076}" type="presParOf" srcId="{E49E79B0-42A7-4BF3-8FBB-1F85A187A07A}" destId="{12DA22EE-420C-47B3-BCC6-7E39D348AEE1}" srcOrd="0" destOrd="0" presId="urn:microsoft.com/office/officeart/2018/2/layout/IconVerticalSolidList"/>
    <dgm:cxn modelId="{A3D9741C-C8BF-4485-B520-FBB0A077354F}" type="presParOf" srcId="{E49E79B0-42A7-4BF3-8FBB-1F85A187A07A}" destId="{00E6CAA8-ADBF-48CE-91E8-EB21C3CB2103}" srcOrd="1" destOrd="0" presId="urn:microsoft.com/office/officeart/2018/2/layout/IconVerticalSolidList"/>
    <dgm:cxn modelId="{2812A49A-24B8-474A-A8A3-B0F219E4BF1F}" type="presParOf" srcId="{E49E79B0-42A7-4BF3-8FBB-1F85A187A07A}" destId="{1AAD6D40-0E9B-4E45-888B-7AFFB634343A}" srcOrd="2" destOrd="0" presId="urn:microsoft.com/office/officeart/2018/2/layout/IconVerticalSolidList"/>
    <dgm:cxn modelId="{37EC7860-F612-4BAF-A973-D6375AAD6F8C}" type="presParOf" srcId="{E49E79B0-42A7-4BF3-8FBB-1F85A187A07A}" destId="{8129EBF3-3F75-4A8A-98B5-FAED8A7EAEBD}" srcOrd="3" destOrd="0" presId="urn:microsoft.com/office/officeart/2018/2/layout/IconVerticalSolidList"/>
    <dgm:cxn modelId="{B7C05375-F807-4BBB-A235-608206EF67A0}" type="presParOf" srcId="{4E9F0C1B-CA46-4762-B50C-AD73761BE514}" destId="{D0C32448-4313-4818-820E-51591D543BEA}" srcOrd="1" destOrd="0" presId="urn:microsoft.com/office/officeart/2018/2/layout/IconVerticalSolidList"/>
    <dgm:cxn modelId="{1E89F478-C4B0-4BD2-AF67-E8DB0737C711}" type="presParOf" srcId="{4E9F0C1B-CA46-4762-B50C-AD73761BE514}" destId="{480BB1BA-A26A-4362-96C2-FFEE972DC361}" srcOrd="2" destOrd="0" presId="urn:microsoft.com/office/officeart/2018/2/layout/IconVerticalSolidList"/>
    <dgm:cxn modelId="{1DA354CF-4DEA-48B8-A7F6-42F116D4E657}" type="presParOf" srcId="{480BB1BA-A26A-4362-96C2-FFEE972DC361}" destId="{BD93606C-DBDD-4284-ACA4-EDE6B0CA576E}" srcOrd="0" destOrd="0" presId="urn:microsoft.com/office/officeart/2018/2/layout/IconVerticalSolidList"/>
    <dgm:cxn modelId="{A247CF41-3448-41D3-80DC-E16A87FDF568}" type="presParOf" srcId="{480BB1BA-A26A-4362-96C2-FFEE972DC361}" destId="{DBA1D475-C4E9-49AC-9172-91132A92FCA1}" srcOrd="1" destOrd="0" presId="urn:microsoft.com/office/officeart/2018/2/layout/IconVerticalSolidList"/>
    <dgm:cxn modelId="{4D12E9B0-06E5-480B-B52A-4E7D01AEC4F7}" type="presParOf" srcId="{480BB1BA-A26A-4362-96C2-FFEE972DC361}" destId="{628F17CA-3B7C-4732-97DA-556052A505C1}" srcOrd="2" destOrd="0" presId="urn:microsoft.com/office/officeart/2018/2/layout/IconVerticalSolidList"/>
    <dgm:cxn modelId="{30739015-D4A1-4311-AFF3-5DD761EE1639}" type="presParOf" srcId="{480BB1BA-A26A-4362-96C2-FFEE972DC361}" destId="{C56E5CF6-2A26-46CF-845C-C2B2B8991FF3}" srcOrd="3" destOrd="0" presId="urn:microsoft.com/office/officeart/2018/2/layout/IconVerticalSolidList"/>
    <dgm:cxn modelId="{418F4364-13BB-46E5-945F-17EC6945253C}" type="presParOf" srcId="{4E9F0C1B-CA46-4762-B50C-AD73761BE514}" destId="{BB744CE1-C6C3-4A60-98E4-9D69FE4B9D4E}" srcOrd="3" destOrd="0" presId="urn:microsoft.com/office/officeart/2018/2/layout/IconVerticalSolidList"/>
    <dgm:cxn modelId="{6B9F49D0-AB0A-496B-85CC-C1462732E134}" type="presParOf" srcId="{4E9F0C1B-CA46-4762-B50C-AD73761BE514}" destId="{C951BE64-DBFB-49DA-9CE9-676A10431B3F}" srcOrd="4" destOrd="0" presId="urn:microsoft.com/office/officeart/2018/2/layout/IconVerticalSolidList"/>
    <dgm:cxn modelId="{F70E91BC-BD45-4134-8357-E0B4D55A5EE0}" type="presParOf" srcId="{C951BE64-DBFB-49DA-9CE9-676A10431B3F}" destId="{670309E1-1858-42FF-BDD0-6D5E06A2899A}" srcOrd="0" destOrd="0" presId="urn:microsoft.com/office/officeart/2018/2/layout/IconVerticalSolidList"/>
    <dgm:cxn modelId="{2D787DC2-A13D-4F02-9FF1-FB9C6802EB9F}" type="presParOf" srcId="{C951BE64-DBFB-49DA-9CE9-676A10431B3F}" destId="{45BBA85F-8FAD-488A-93BA-5D85F1817E3C}" srcOrd="1" destOrd="0" presId="urn:microsoft.com/office/officeart/2018/2/layout/IconVerticalSolidList"/>
    <dgm:cxn modelId="{3AACF354-3A8C-48D0-AE92-DFB655F6F9CB}" type="presParOf" srcId="{C951BE64-DBFB-49DA-9CE9-676A10431B3F}" destId="{5B7C2D71-C451-41EA-9F90-A0B23EEDFA03}" srcOrd="2" destOrd="0" presId="urn:microsoft.com/office/officeart/2018/2/layout/IconVerticalSolidList"/>
    <dgm:cxn modelId="{ABB01390-2829-48D8-8F6A-6E272D657245}" type="presParOf" srcId="{C951BE64-DBFB-49DA-9CE9-676A10431B3F}" destId="{ED3520B3-9DE3-41CD-B1AF-A6AFC487F11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6D7CF4-D26D-4395-847E-D526C3A14F2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D729406-E078-4B02-9FA3-AF3E1871255D}">
      <dgm:prSet/>
      <dgm:spPr/>
      <dgm:t>
        <a:bodyPr/>
        <a:lstStyle/>
        <a:p>
          <a:r>
            <a:rPr lang="en-US"/>
            <a:t>Higher education should adopt AI to improve learning and access, but only under transparent policies and ethical guidelines that protect students and academic integrity.</a:t>
          </a:r>
        </a:p>
      </dgm:t>
    </dgm:pt>
    <dgm:pt modelId="{86F93B1A-67E7-4E2B-A245-B79C42070605}" type="parTrans" cxnId="{A6143431-C478-448C-B7EC-E37CE333DF60}">
      <dgm:prSet/>
      <dgm:spPr/>
      <dgm:t>
        <a:bodyPr/>
        <a:lstStyle/>
        <a:p>
          <a:endParaRPr lang="en-US"/>
        </a:p>
      </dgm:t>
    </dgm:pt>
    <dgm:pt modelId="{64F3FE28-DE46-4D79-9559-E6BE0CD5A28C}" type="sibTrans" cxnId="{A6143431-C478-448C-B7EC-E37CE333DF60}">
      <dgm:prSet phldrT="01"/>
      <dgm:spPr/>
      <dgm:t>
        <a:bodyPr/>
        <a:lstStyle/>
        <a:p>
          <a:endParaRPr lang="en-US"/>
        </a:p>
      </dgm:t>
    </dgm:pt>
    <dgm:pt modelId="{D24270CB-DF5B-46E3-8A0C-621DE29B5CAB}">
      <dgm:prSet/>
      <dgm:spPr/>
      <dgm:t>
        <a:bodyPr/>
        <a:lstStyle/>
        <a:p>
          <a:r>
            <a:rPr lang="en-US"/>
            <a:t>My claim: The responsible-use model is stronger than either full adoption with no guardrails or total rejection.</a:t>
          </a:r>
        </a:p>
      </dgm:t>
    </dgm:pt>
    <dgm:pt modelId="{20A76DEC-C203-47FE-9B51-494BA1F315D8}" type="parTrans" cxnId="{EC12A83C-A4F4-417A-AF51-7665AFC40967}">
      <dgm:prSet/>
      <dgm:spPr/>
      <dgm:t>
        <a:bodyPr/>
        <a:lstStyle/>
        <a:p>
          <a:endParaRPr lang="en-US"/>
        </a:p>
      </dgm:t>
    </dgm:pt>
    <dgm:pt modelId="{1B5B339C-2AEC-48B0-8EAD-CB71B9B19FA3}" type="sibTrans" cxnId="{EC12A83C-A4F4-417A-AF51-7665AFC40967}">
      <dgm:prSet phldrT="02"/>
      <dgm:spPr/>
      <dgm:t>
        <a:bodyPr/>
        <a:lstStyle/>
        <a:p>
          <a:endParaRPr lang="en-US"/>
        </a:p>
      </dgm:t>
    </dgm:pt>
    <dgm:pt modelId="{9520F8EC-71FB-4434-BF16-E4E11C6DDD35}">
      <dgm:prSet/>
      <dgm:spPr/>
      <dgm:t>
        <a:bodyPr/>
        <a:lstStyle/>
        <a:p>
          <a:r>
            <a:rPr lang="en-US"/>
            <a:t>Roadmap: personalization → accessibility → supplemental support → safeguards → refutation.</a:t>
          </a:r>
        </a:p>
      </dgm:t>
    </dgm:pt>
    <dgm:pt modelId="{7BB42E4C-2FE0-4654-B009-1425D8117A93}" type="parTrans" cxnId="{0F039544-0351-45B6-B786-4BF04CFF4CD1}">
      <dgm:prSet/>
      <dgm:spPr/>
      <dgm:t>
        <a:bodyPr/>
        <a:lstStyle/>
        <a:p>
          <a:endParaRPr lang="en-US"/>
        </a:p>
      </dgm:t>
    </dgm:pt>
    <dgm:pt modelId="{AE1BE8C6-E580-4D6B-B05A-C318778E0784}" type="sibTrans" cxnId="{0F039544-0351-45B6-B786-4BF04CFF4CD1}">
      <dgm:prSet phldrT="03"/>
      <dgm:spPr/>
      <dgm:t>
        <a:bodyPr/>
        <a:lstStyle/>
        <a:p>
          <a:endParaRPr lang="en-US"/>
        </a:p>
      </dgm:t>
    </dgm:pt>
    <dgm:pt modelId="{E14B7175-7191-5244-82B9-1D462942756A}" type="pres">
      <dgm:prSet presAssocID="{066D7CF4-D26D-4395-847E-D526C3A14F2E}" presName="linear" presStyleCnt="0">
        <dgm:presLayoutVars>
          <dgm:animLvl val="lvl"/>
          <dgm:resizeHandles val="exact"/>
        </dgm:presLayoutVars>
      </dgm:prSet>
      <dgm:spPr/>
    </dgm:pt>
    <dgm:pt modelId="{6440459F-1CDB-F341-A1D2-9B1E2EA1D473}" type="pres">
      <dgm:prSet presAssocID="{BD729406-E078-4B02-9FA3-AF3E1871255D}" presName="parentText" presStyleLbl="node1" presStyleIdx="0" presStyleCnt="3">
        <dgm:presLayoutVars>
          <dgm:chMax val="0"/>
          <dgm:bulletEnabled val="1"/>
        </dgm:presLayoutVars>
      </dgm:prSet>
      <dgm:spPr/>
    </dgm:pt>
    <dgm:pt modelId="{359F33AC-5485-D343-B81E-06702DF044D3}" type="pres">
      <dgm:prSet presAssocID="{64F3FE28-DE46-4D79-9559-E6BE0CD5A28C}" presName="spacer" presStyleCnt="0"/>
      <dgm:spPr/>
    </dgm:pt>
    <dgm:pt modelId="{A5E354AB-5F9A-874B-A410-3C5E7427C645}" type="pres">
      <dgm:prSet presAssocID="{D24270CB-DF5B-46E3-8A0C-621DE29B5CAB}" presName="parentText" presStyleLbl="node1" presStyleIdx="1" presStyleCnt="3">
        <dgm:presLayoutVars>
          <dgm:chMax val="0"/>
          <dgm:bulletEnabled val="1"/>
        </dgm:presLayoutVars>
      </dgm:prSet>
      <dgm:spPr/>
    </dgm:pt>
    <dgm:pt modelId="{5CDD6145-3883-C046-AFAA-01F2EAC20C08}" type="pres">
      <dgm:prSet presAssocID="{1B5B339C-2AEC-48B0-8EAD-CB71B9B19FA3}" presName="spacer" presStyleCnt="0"/>
      <dgm:spPr/>
    </dgm:pt>
    <dgm:pt modelId="{B4637CB3-C348-AE45-AE43-8AB4DDBF1717}" type="pres">
      <dgm:prSet presAssocID="{9520F8EC-71FB-4434-BF16-E4E11C6DDD35}" presName="parentText" presStyleLbl="node1" presStyleIdx="2" presStyleCnt="3">
        <dgm:presLayoutVars>
          <dgm:chMax val="0"/>
          <dgm:bulletEnabled val="1"/>
        </dgm:presLayoutVars>
      </dgm:prSet>
      <dgm:spPr/>
    </dgm:pt>
  </dgm:ptLst>
  <dgm:cxnLst>
    <dgm:cxn modelId="{9F879610-7949-B24A-9754-793F02ABD80F}" type="presOf" srcId="{066D7CF4-D26D-4395-847E-D526C3A14F2E}" destId="{E14B7175-7191-5244-82B9-1D462942756A}" srcOrd="0" destOrd="0" presId="urn:microsoft.com/office/officeart/2005/8/layout/vList2"/>
    <dgm:cxn modelId="{A6143431-C478-448C-B7EC-E37CE333DF60}" srcId="{066D7CF4-D26D-4395-847E-D526C3A14F2E}" destId="{BD729406-E078-4B02-9FA3-AF3E1871255D}" srcOrd="0" destOrd="0" parTransId="{86F93B1A-67E7-4E2B-A245-B79C42070605}" sibTransId="{64F3FE28-DE46-4D79-9559-E6BE0CD5A28C}"/>
    <dgm:cxn modelId="{EC12A83C-A4F4-417A-AF51-7665AFC40967}" srcId="{066D7CF4-D26D-4395-847E-D526C3A14F2E}" destId="{D24270CB-DF5B-46E3-8A0C-621DE29B5CAB}" srcOrd="1" destOrd="0" parTransId="{20A76DEC-C203-47FE-9B51-494BA1F315D8}" sibTransId="{1B5B339C-2AEC-48B0-8EAD-CB71B9B19FA3}"/>
    <dgm:cxn modelId="{0F039544-0351-45B6-B786-4BF04CFF4CD1}" srcId="{066D7CF4-D26D-4395-847E-D526C3A14F2E}" destId="{9520F8EC-71FB-4434-BF16-E4E11C6DDD35}" srcOrd="2" destOrd="0" parTransId="{7BB42E4C-2FE0-4654-B009-1425D8117A93}" sibTransId="{AE1BE8C6-E580-4D6B-B05A-C318778E0784}"/>
    <dgm:cxn modelId="{802A1775-B10B-EC45-975B-451284ABBD24}" type="presOf" srcId="{9520F8EC-71FB-4434-BF16-E4E11C6DDD35}" destId="{B4637CB3-C348-AE45-AE43-8AB4DDBF1717}" srcOrd="0" destOrd="0" presId="urn:microsoft.com/office/officeart/2005/8/layout/vList2"/>
    <dgm:cxn modelId="{46DA7496-0284-5A4F-85C8-C93E52DF48D5}" type="presOf" srcId="{BD729406-E078-4B02-9FA3-AF3E1871255D}" destId="{6440459F-1CDB-F341-A1D2-9B1E2EA1D473}" srcOrd="0" destOrd="0" presId="urn:microsoft.com/office/officeart/2005/8/layout/vList2"/>
    <dgm:cxn modelId="{74CA7DB1-FBE7-694C-B311-C70C6BA099A6}" type="presOf" srcId="{D24270CB-DF5B-46E3-8A0C-621DE29B5CAB}" destId="{A5E354AB-5F9A-874B-A410-3C5E7427C645}" srcOrd="0" destOrd="0" presId="urn:microsoft.com/office/officeart/2005/8/layout/vList2"/>
    <dgm:cxn modelId="{C992B1AC-C9A8-B646-A9DC-EF1268EC32FE}" type="presParOf" srcId="{E14B7175-7191-5244-82B9-1D462942756A}" destId="{6440459F-1CDB-F341-A1D2-9B1E2EA1D473}" srcOrd="0" destOrd="0" presId="urn:microsoft.com/office/officeart/2005/8/layout/vList2"/>
    <dgm:cxn modelId="{20CBD168-4474-5C44-97CF-87AC4440D7AE}" type="presParOf" srcId="{E14B7175-7191-5244-82B9-1D462942756A}" destId="{359F33AC-5485-D343-B81E-06702DF044D3}" srcOrd="1" destOrd="0" presId="urn:microsoft.com/office/officeart/2005/8/layout/vList2"/>
    <dgm:cxn modelId="{2BAF2F41-AD4E-DD41-B4F1-75E4047EBD83}" type="presParOf" srcId="{E14B7175-7191-5244-82B9-1D462942756A}" destId="{A5E354AB-5F9A-874B-A410-3C5E7427C645}" srcOrd="2" destOrd="0" presId="urn:microsoft.com/office/officeart/2005/8/layout/vList2"/>
    <dgm:cxn modelId="{A8781C22-1FC3-804C-A695-DD30440AA06E}" type="presParOf" srcId="{E14B7175-7191-5244-82B9-1D462942756A}" destId="{5CDD6145-3883-C046-AFAA-01F2EAC20C08}" srcOrd="3" destOrd="0" presId="urn:microsoft.com/office/officeart/2005/8/layout/vList2"/>
    <dgm:cxn modelId="{F4F19989-83E0-DA46-B144-89971C4F8818}" type="presParOf" srcId="{E14B7175-7191-5244-82B9-1D462942756A}" destId="{B4637CB3-C348-AE45-AE43-8AB4DDBF171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03697E-F9D9-42BB-A646-4CB3B8A131D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4635993-7B90-4373-A78E-80FD6AC72B65}">
      <dgm:prSet/>
      <dgm:spPr/>
      <dgm:t>
        <a:bodyPr/>
        <a:lstStyle/>
        <a:p>
          <a:r>
            <a:rPr lang="en-US"/>
            <a:t>AI-powered supports can improve access for students with disabilities and language barriers.</a:t>
          </a:r>
        </a:p>
      </dgm:t>
    </dgm:pt>
    <dgm:pt modelId="{0EC16804-BF93-4E0F-BE81-D2417826A691}" type="parTrans" cxnId="{397DF399-1E31-4653-BF1B-8FC323D3C589}">
      <dgm:prSet/>
      <dgm:spPr/>
      <dgm:t>
        <a:bodyPr/>
        <a:lstStyle/>
        <a:p>
          <a:endParaRPr lang="en-US"/>
        </a:p>
      </dgm:t>
    </dgm:pt>
    <dgm:pt modelId="{4809EC07-9CFD-484D-A5FB-5E6250F148B4}" type="sibTrans" cxnId="{397DF399-1E31-4653-BF1B-8FC323D3C589}">
      <dgm:prSet/>
      <dgm:spPr/>
      <dgm:t>
        <a:bodyPr/>
        <a:lstStyle/>
        <a:p>
          <a:endParaRPr lang="en-US"/>
        </a:p>
      </dgm:t>
    </dgm:pt>
    <dgm:pt modelId="{3C61988D-6CBD-4213-BBB0-A016285496E5}">
      <dgm:prSet/>
      <dgm:spPr/>
      <dgm:t>
        <a:bodyPr/>
        <a:lstStyle/>
        <a:p>
          <a:r>
            <a:rPr lang="en-US"/>
            <a:t>Examples: Captioning, text-to-speech/speech-to-text, translation, and reading supports.</a:t>
          </a:r>
        </a:p>
      </dgm:t>
    </dgm:pt>
    <dgm:pt modelId="{CE03F137-5546-48AE-9BCB-9D91B7CE9935}" type="parTrans" cxnId="{9DCEC86F-FD4E-4DD9-AA8B-7368A944B7AB}">
      <dgm:prSet/>
      <dgm:spPr/>
      <dgm:t>
        <a:bodyPr/>
        <a:lstStyle/>
        <a:p>
          <a:endParaRPr lang="en-US"/>
        </a:p>
      </dgm:t>
    </dgm:pt>
    <dgm:pt modelId="{3619876B-45DA-4079-A52D-F6E2719AFC60}" type="sibTrans" cxnId="{9DCEC86F-FD4E-4DD9-AA8B-7368A944B7AB}">
      <dgm:prSet/>
      <dgm:spPr/>
      <dgm:t>
        <a:bodyPr/>
        <a:lstStyle/>
        <a:p>
          <a:endParaRPr lang="en-US"/>
        </a:p>
      </dgm:t>
    </dgm:pt>
    <dgm:pt modelId="{FDDEDD4D-2043-4396-8007-A582C05F2585}">
      <dgm:prSet/>
      <dgm:spPr/>
      <dgm:t>
        <a:bodyPr/>
        <a:lstStyle/>
        <a:p>
          <a:r>
            <a:rPr lang="en-US"/>
            <a:t>Accessibility must be designed in, not added later (align tools with accessibility standards).</a:t>
          </a:r>
        </a:p>
      </dgm:t>
    </dgm:pt>
    <dgm:pt modelId="{3F9863D5-73C6-4068-AADC-A2DE3E9F425F}" type="parTrans" cxnId="{EEA13D8A-78C6-477E-A495-688E353A7B74}">
      <dgm:prSet/>
      <dgm:spPr/>
      <dgm:t>
        <a:bodyPr/>
        <a:lstStyle/>
        <a:p>
          <a:endParaRPr lang="en-US"/>
        </a:p>
      </dgm:t>
    </dgm:pt>
    <dgm:pt modelId="{0FDAC132-E4B8-41E1-9570-1C38A404F411}" type="sibTrans" cxnId="{EEA13D8A-78C6-477E-A495-688E353A7B74}">
      <dgm:prSet/>
      <dgm:spPr/>
      <dgm:t>
        <a:bodyPr/>
        <a:lstStyle/>
        <a:p>
          <a:endParaRPr lang="en-US"/>
        </a:p>
      </dgm:t>
    </dgm:pt>
    <dgm:pt modelId="{DC3E46FF-9EF3-E047-AEA4-9BE10570992D}" type="pres">
      <dgm:prSet presAssocID="{2603697E-F9D9-42BB-A646-4CB3B8A131D5}" presName="hierChild1" presStyleCnt="0">
        <dgm:presLayoutVars>
          <dgm:chPref val="1"/>
          <dgm:dir/>
          <dgm:animOne val="branch"/>
          <dgm:animLvl val="lvl"/>
          <dgm:resizeHandles/>
        </dgm:presLayoutVars>
      </dgm:prSet>
      <dgm:spPr/>
    </dgm:pt>
    <dgm:pt modelId="{A67E23D0-5E5C-F24D-81E2-BAE7515EC9F4}" type="pres">
      <dgm:prSet presAssocID="{B4635993-7B90-4373-A78E-80FD6AC72B65}" presName="hierRoot1" presStyleCnt="0"/>
      <dgm:spPr/>
    </dgm:pt>
    <dgm:pt modelId="{931EA8AC-6F10-A940-8CD1-2CD4BF9458B5}" type="pres">
      <dgm:prSet presAssocID="{B4635993-7B90-4373-A78E-80FD6AC72B65}" presName="composite" presStyleCnt="0"/>
      <dgm:spPr/>
    </dgm:pt>
    <dgm:pt modelId="{1BE3B2F9-011B-3C43-970B-A725B4668627}" type="pres">
      <dgm:prSet presAssocID="{B4635993-7B90-4373-A78E-80FD6AC72B65}" presName="background" presStyleLbl="node0" presStyleIdx="0" presStyleCnt="3"/>
      <dgm:spPr/>
    </dgm:pt>
    <dgm:pt modelId="{E061D9E6-EAFD-9B42-BAF5-E9B5510E1B4C}" type="pres">
      <dgm:prSet presAssocID="{B4635993-7B90-4373-A78E-80FD6AC72B65}" presName="text" presStyleLbl="fgAcc0" presStyleIdx="0" presStyleCnt="3">
        <dgm:presLayoutVars>
          <dgm:chPref val="3"/>
        </dgm:presLayoutVars>
      </dgm:prSet>
      <dgm:spPr/>
    </dgm:pt>
    <dgm:pt modelId="{9F715181-E09A-5F46-B19D-82D04A480369}" type="pres">
      <dgm:prSet presAssocID="{B4635993-7B90-4373-A78E-80FD6AC72B65}" presName="hierChild2" presStyleCnt="0"/>
      <dgm:spPr/>
    </dgm:pt>
    <dgm:pt modelId="{1E731BF7-1EF4-5F41-B06A-18D3B9EB1FCB}" type="pres">
      <dgm:prSet presAssocID="{3C61988D-6CBD-4213-BBB0-A016285496E5}" presName="hierRoot1" presStyleCnt="0"/>
      <dgm:spPr/>
    </dgm:pt>
    <dgm:pt modelId="{12CC8B67-EFC7-0A40-BFEE-3F835AE74318}" type="pres">
      <dgm:prSet presAssocID="{3C61988D-6CBD-4213-BBB0-A016285496E5}" presName="composite" presStyleCnt="0"/>
      <dgm:spPr/>
    </dgm:pt>
    <dgm:pt modelId="{823B0E48-6863-2F4B-A8FD-185D85FF522F}" type="pres">
      <dgm:prSet presAssocID="{3C61988D-6CBD-4213-BBB0-A016285496E5}" presName="background" presStyleLbl="node0" presStyleIdx="1" presStyleCnt="3"/>
      <dgm:spPr/>
    </dgm:pt>
    <dgm:pt modelId="{5DE834E6-78B9-3047-AA1C-D3439DDA1408}" type="pres">
      <dgm:prSet presAssocID="{3C61988D-6CBD-4213-BBB0-A016285496E5}" presName="text" presStyleLbl="fgAcc0" presStyleIdx="1" presStyleCnt="3">
        <dgm:presLayoutVars>
          <dgm:chPref val="3"/>
        </dgm:presLayoutVars>
      </dgm:prSet>
      <dgm:spPr/>
    </dgm:pt>
    <dgm:pt modelId="{F526B1BB-0C3F-0944-9B18-6B8FE7C559C0}" type="pres">
      <dgm:prSet presAssocID="{3C61988D-6CBD-4213-BBB0-A016285496E5}" presName="hierChild2" presStyleCnt="0"/>
      <dgm:spPr/>
    </dgm:pt>
    <dgm:pt modelId="{D1A93258-6D61-3648-9C04-3E6CE8171692}" type="pres">
      <dgm:prSet presAssocID="{FDDEDD4D-2043-4396-8007-A582C05F2585}" presName="hierRoot1" presStyleCnt="0"/>
      <dgm:spPr/>
    </dgm:pt>
    <dgm:pt modelId="{77B48E29-7372-A04A-B157-8552EF901A74}" type="pres">
      <dgm:prSet presAssocID="{FDDEDD4D-2043-4396-8007-A582C05F2585}" presName="composite" presStyleCnt="0"/>
      <dgm:spPr/>
    </dgm:pt>
    <dgm:pt modelId="{5BDD1580-B282-A444-9140-854154B4165E}" type="pres">
      <dgm:prSet presAssocID="{FDDEDD4D-2043-4396-8007-A582C05F2585}" presName="background" presStyleLbl="node0" presStyleIdx="2" presStyleCnt="3"/>
      <dgm:spPr/>
    </dgm:pt>
    <dgm:pt modelId="{7BA551A3-6B42-B240-83C7-0AF0106CFA12}" type="pres">
      <dgm:prSet presAssocID="{FDDEDD4D-2043-4396-8007-A582C05F2585}" presName="text" presStyleLbl="fgAcc0" presStyleIdx="2" presStyleCnt="3">
        <dgm:presLayoutVars>
          <dgm:chPref val="3"/>
        </dgm:presLayoutVars>
      </dgm:prSet>
      <dgm:spPr/>
    </dgm:pt>
    <dgm:pt modelId="{FE73EB43-EE0E-5D4A-8442-CE0E9C50F621}" type="pres">
      <dgm:prSet presAssocID="{FDDEDD4D-2043-4396-8007-A582C05F2585}" presName="hierChild2" presStyleCnt="0"/>
      <dgm:spPr/>
    </dgm:pt>
  </dgm:ptLst>
  <dgm:cxnLst>
    <dgm:cxn modelId="{B8B75D15-2F81-A740-AEF2-33585A0B4EC5}" type="presOf" srcId="{B4635993-7B90-4373-A78E-80FD6AC72B65}" destId="{E061D9E6-EAFD-9B42-BAF5-E9B5510E1B4C}" srcOrd="0" destOrd="0" presId="urn:microsoft.com/office/officeart/2005/8/layout/hierarchy1"/>
    <dgm:cxn modelId="{2E0C155F-758A-8741-AFAD-8365991702A7}" type="presOf" srcId="{2603697E-F9D9-42BB-A646-4CB3B8A131D5}" destId="{DC3E46FF-9EF3-E047-AEA4-9BE10570992D}" srcOrd="0" destOrd="0" presId="urn:microsoft.com/office/officeart/2005/8/layout/hierarchy1"/>
    <dgm:cxn modelId="{9DCEC86F-FD4E-4DD9-AA8B-7368A944B7AB}" srcId="{2603697E-F9D9-42BB-A646-4CB3B8A131D5}" destId="{3C61988D-6CBD-4213-BBB0-A016285496E5}" srcOrd="1" destOrd="0" parTransId="{CE03F137-5546-48AE-9BCB-9D91B7CE9935}" sibTransId="{3619876B-45DA-4079-A52D-F6E2719AFC60}"/>
    <dgm:cxn modelId="{EEA13D8A-78C6-477E-A495-688E353A7B74}" srcId="{2603697E-F9D9-42BB-A646-4CB3B8A131D5}" destId="{FDDEDD4D-2043-4396-8007-A582C05F2585}" srcOrd="2" destOrd="0" parTransId="{3F9863D5-73C6-4068-AADC-A2DE3E9F425F}" sibTransId="{0FDAC132-E4B8-41E1-9570-1C38A404F411}"/>
    <dgm:cxn modelId="{397DF399-1E31-4653-BF1B-8FC323D3C589}" srcId="{2603697E-F9D9-42BB-A646-4CB3B8A131D5}" destId="{B4635993-7B90-4373-A78E-80FD6AC72B65}" srcOrd="0" destOrd="0" parTransId="{0EC16804-BF93-4E0F-BE81-D2417826A691}" sibTransId="{4809EC07-9CFD-484D-A5FB-5E6250F148B4}"/>
    <dgm:cxn modelId="{419EEEAF-47AA-A249-8EF3-05B3C85AA112}" type="presOf" srcId="{3C61988D-6CBD-4213-BBB0-A016285496E5}" destId="{5DE834E6-78B9-3047-AA1C-D3439DDA1408}" srcOrd="0" destOrd="0" presId="urn:microsoft.com/office/officeart/2005/8/layout/hierarchy1"/>
    <dgm:cxn modelId="{A35107BB-0636-DD4E-BEBF-0E55F7B31D6A}" type="presOf" srcId="{FDDEDD4D-2043-4396-8007-A582C05F2585}" destId="{7BA551A3-6B42-B240-83C7-0AF0106CFA12}" srcOrd="0" destOrd="0" presId="urn:microsoft.com/office/officeart/2005/8/layout/hierarchy1"/>
    <dgm:cxn modelId="{11545B7C-C563-774A-A2F3-2A1CB0420C45}" type="presParOf" srcId="{DC3E46FF-9EF3-E047-AEA4-9BE10570992D}" destId="{A67E23D0-5E5C-F24D-81E2-BAE7515EC9F4}" srcOrd="0" destOrd="0" presId="urn:microsoft.com/office/officeart/2005/8/layout/hierarchy1"/>
    <dgm:cxn modelId="{EFD976E4-21A9-F34A-9DB0-945F13DF21E7}" type="presParOf" srcId="{A67E23D0-5E5C-F24D-81E2-BAE7515EC9F4}" destId="{931EA8AC-6F10-A940-8CD1-2CD4BF9458B5}" srcOrd="0" destOrd="0" presId="urn:microsoft.com/office/officeart/2005/8/layout/hierarchy1"/>
    <dgm:cxn modelId="{00039C7D-66A3-B042-94BA-D837612628BF}" type="presParOf" srcId="{931EA8AC-6F10-A940-8CD1-2CD4BF9458B5}" destId="{1BE3B2F9-011B-3C43-970B-A725B4668627}" srcOrd="0" destOrd="0" presId="urn:microsoft.com/office/officeart/2005/8/layout/hierarchy1"/>
    <dgm:cxn modelId="{3DCB5F65-FF28-0641-B486-FB7F2198389F}" type="presParOf" srcId="{931EA8AC-6F10-A940-8CD1-2CD4BF9458B5}" destId="{E061D9E6-EAFD-9B42-BAF5-E9B5510E1B4C}" srcOrd="1" destOrd="0" presId="urn:microsoft.com/office/officeart/2005/8/layout/hierarchy1"/>
    <dgm:cxn modelId="{F89EDEAD-B81C-874D-AD75-34F6949598CD}" type="presParOf" srcId="{A67E23D0-5E5C-F24D-81E2-BAE7515EC9F4}" destId="{9F715181-E09A-5F46-B19D-82D04A480369}" srcOrd="1" destOrd="0" presId="urn:microsoft.com/office/officeart/2005/8/layout/hierarchy1"/>
    <dgm:cxn modelId="{2822DAF1-3BE6-F944-9325-07617011F287}" type="presParOf" srcId="{DC3E46FF-9EF3-E047-AEA4-9BE10570992D}" destId="{1E731BF7-1EF4-5F41-B06A-18D3B9EB1FCB}" srcOrd="1" destOrd="0" presId="urn:microsoft.com/office/officeart/2005/8/layout/hierarchy1"/>
    <dgm:cxn modelId="{2A56BA38-D479-2B48-A2E8-CBDE3B5278B2}" type="presParOf" srcId="{1E731BF7-1EF4-5F41-B06A-18D3B9EB1FCB}" destId="{12CC8B67-EFC7-0A40-BFEE-3F835AE74318}" srcOrd="0" destOrd="0" presId="urn:microsoft.com/office/officeart/2005/8/layout/hierarchy1"/>
    <dgm:cxn modelId="{F1E6C81F-3B35-2E41-BE2A-1D6013E4FF86}" type="presParOf" srcId="{12CC8B67-EFC7-0A40-BFEE-3F835AE74318}" destId="{823B0E48-6863-2F4B-A8FD-185D85FF522F}" srcOrd="0" destOrd="0" presId="urn:microsoft.com/office/officeart/2005/8/layout/hierarchy1"/>
    <dgm:cxn modelId="{924A0EEC-694C-CC4A-8B14-9CFDF19D4623}" type="presParOf" srcId="{12CC8B67-EFC7-0A40-BFEE-3F835AE74318}" destId="{5DE834E6-78B9-3047-AA1C-D3439DDA1408}" srcOrd="1" destOrd="0" presId="urn:microsoft.com/office/officeart/2005/8/layout/hierarchy1"/>
    <dgm:cxn modelId="{D81E6476-0BE3-F541-9DE2-FD7238513423}" type="presParOf" srcId="{1E731BF7-1EF4-5F41-B06A-18D3B9EB1FCB}" destId="{F526B1BB-0C3F-0944-9B18-6B8FE7C559C0}" srcOrd="1" destOrd="0" presId="urn:microsoft.com/office/officeart/2005/8/layout/hierarchy1"/>
    <dgm:cxn modelId="{2779242F-E01F-DE4A-A5DB-2618C78AE053}" type="presParOf" srcId="{DC3E46FF-9EF3-E047-AEA4-9BE10570992D}" destId="{D1A93258-6D61-3648-9C04-3E6CE8171692}" srcOrd="2" destOrd="0" presId="urn:microsoft.com/office/officeart/2005/8/layout/hierarchy1"/>
    <dgm:cxn modelId="{DB047FDD-D53B-2446-B91F-F4439A173388}" type="presParOf" srcId="{D1A93258-6D61-3648-9C04-3E6CE8171692}" destId="{77B48E29-7372-A04A-B157-8552EF901A74}" srcOrd="0" destOrd="0" presId="urn:microsoft.com/office/officeart/2005/8/layout/hierarchy1"/>
    <dgm:cxn modelId="{17A6DF94-A526-AC46-B5D7-3FC646E0F608}" type="presParOf" srcId="{77B48E29-7372-A04A-B157-8552EF901A74}" destId="{5BDD1580-B282-A444-9140-854154B4165E}" srcOrd="0" destOrd="0" presId="urn:microsoft.com/office/officeart/2005/8/layout/hierarchy1"/>
    <dgm:cxn modelId="{37F74458-7865-1D43-ACC2-380045E038DB}" type="presParOf" srcId="{77B48E29-7372-A04A-B157-8552EF901A74}" destId="{7BA551A3-6B42-B240-83C7-0AF0106CFA12}" srcOrd="1" destOrd="0" presId="urn:microsoft.com/office/officeart/2005/8/layout/hierarchy1"/>
    <dgm:cxn modelId="{DDFAD335-E7F1-1A4A-AE1D-19C545FBE1B9}" type="presParOf" srcId="{D1A93258-6D61-3648-9C04-3E6CE8171692}" destId="{FE73EB43-EE0E-5D4A-8442-CE0E9C50F62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8A973E-1C2E-4F60-85AA-B93FAB538ED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2DCE165-3576-4F67-BDC0-4201A1E10A35}">
      <dgm:prSet/>
      <dgm:spPr/>
      <dgm:t>
        <a:bodyPr/>
        <a:lstStyle/>
        <a:p>
          <a:pPr>
            <a:lnSpc>
              <a:spcPct val="100000"/>
            </a:lnSpc>
          </a:pPr>
          <a:r>
            <a:rPr lang="en-US"/>
            <a:t>AI can provide extra practice, feedback, and study support outside class hours.</a:t>
          </a:r>
        </a:p>
      </dgm:t>
    </dgm:pt>
    <dgm:pt modelId="{F4D0AB24-0FE1-411C-9B13-8E5ADB2396B1}" type="parTrans" cxnId="{4384F223-0B82-4FD6-A166-093C62CD1B72}">
      <dgm:prSet/>
      <dgm:spPr/>
      <dgm:t>
        <a:bodyPr/>
        <a:lstStyle/>
        <a:p>
          <a:endParaRPr lang="en-US"/>
        </a:p>
      </dgm:t>
    </dgm:pt>
    <dgm:pt modelId="{63184C03-E01C-49AF-9C46-C2C583F87212}" type="sibTrans" cxnId="{4384F223-0B82-4FD6-A166-093C62CD1B72}">
      <dgm:prSet/>
      <dgm:spPr/>
      <dgm:t>
        <a:bodyPr/>
        <a:lstStyle/>
        <a:p>
          <a:endParaRPr lang="en-US"/>
        </a:p>
      </dgm:t>
    </dgm:pt>
    <dgm:pt modelId="{2352E034-139A-4CA1-BCDD-2568E54B97DC}">
      <dgm:prSet/>
      <dgm:spPr/>
      <dgm:t>
        <a:bodyPr/>
        <a:lstStyle/>
        <a:p>
          <a:pPr>
            <a:lnSpc>
              <a:spcPct val="100000"/>
            </a:lnSpc>
          </a:pPr>
          <a:r>
            <a:rPr lang="en-US"/>
            <a:t>This can free instructors to focus on mentoring, discussion, and higher-order learning.</a:t>
          </a:r>
        </a:p>
      </dgm:t>
    </dgm:pt>
    <dgm:pt modelId="{F01AE26A-5B35-42C7-923C-6B67EBCDB9DF}" type="parTrans" cxnId="{BC7B0F94-D9E4-4819-99D9-94B21D95953B}">
      <dgm:prSet/>
      <dgm:spPr/>
      <dgm:t>
        <a:bodyPr/>
        <a:lstStyle/>
        <a:p>
          <a:endParaRPr lang="en-US"/>
        </a:p>
      </dgm:t>
    </dgm:pt>
    <dgm:pt modelId="{3B1C52A4-2020-4E4A-AEF2-AA23087DD725}" type="sibTrans" cxnId="{BC7B0F94-D9E4-4819-99D9-94B21D95953B}">
      <dgm:prSet/>
      <dgm:spPr/>
      <dgm:t>
        <a:bodyPr/>
        <a:lstStyle/>
        <a:p>
          <a:endParaRPr lang="en-US"/>
        </a:p>
      </dgm:t>
    </dgm:pt>
    <dgm:pt modelId="{C47E1EDB-53B5-4626-A5D9-6DA836963CC0}">
      <dgm:prSet/>
      <dgm:spPr/>
      <dgm:t>
        <a:bodyPr/>
        <a:lstStyle/>
        <a:p>
          <a:pPr>
            <a:lnSpc>
              <a:spcPct val="100000"/>
            </a:lnSpc>
          </a:pPr>
          <a:r>
            <a:rPr lang="en-US"/>
            <a:t>Institutions should treat AI outputs as assistive suggestions requiring human judgment.</a:t>
          </a:r>
        </a:p>
      </dgm:t>
    </dgm:pt>
    <dgm:pt modelId="{F2E4014D-CA29-46EB-8792-1CC65ADB9D9B}" type="parTrans" cxnId="{C056E21A-347C-4AB7-9D3B-798CC59DAA42}">
      <dgm:prSet/>
      <dgm:spPr/>
      <dgm:t>
        <a:bodyPr/>
        <a:lstStyle/>
        <a:p>
          <a:endParaRPr lang="en-US"/>
        </a:p>
      </dgm:t>
    </dgm:pt>
    <dgm:pt modelId="{20F3A411-5562-40E9-B064-5CBF0572DF31}" type="sibTrans" cxnId="{C056E21A-347C-4AB7-9D3B-798CC59DAA42}">
      <dgm:prSet/>
      <dgm:spPr/>
      <dgm:t>
        <a:bodyPr/>
        <a:lstStyle/>
        <a:p>
          <a:endParaRPr lang="en-US"/>
        </a:p>
      </dgm:t>
    </dgm:pt>
    <dgm:pt modelId="{5B34F4E5-DCF3-481E-9331-E6877B0E3768}" type="pres">
      <dgm:prSet presAssocID="{7A8A973E-1C2E-4F60-85AA-B93FAB538ED7}" presName="root" presStyleCnt="0">
        <dgm:presLayoutVars>
          <dgm:dir/>
          <dgm:resizeHandles val="exact"/>
        </dgm:presLayoutVars>
      </dgm:prSet>
      <dgm:spPr/>
    </dgm:pt>
    <dgm:pt modelId="{F3B0030A-0C15-4903-A484-CCF6455458B0}" type="pres">
      <dgm:prSet presAssocID="{92DCE165-3576-4F67-BDC0-4201A1E10A35}" presName="compNode" presStyleCnt="0"/>
      <dgm:spPr/>
    </dgm:pt>
    <dgm:pt modelId="{9CF69312-7C89-4CC4-93B3-7C604C771D74}" type="pres">
      <dgm:prSet presAssocID="{92DCE165-3576-4F67-BDC0-4201A1E10A35}" presName="bgRect" presStyleLbl="bgShp" presStyleIdx="0" presStyleCnt="3"/>
      <dgm:spPr/>
    </dgm:pt>
    <dgm:pt modelId="{CF2D2ED3-C836-49AC-BE57-55C1FAA287A4}" type="pres">
      <dgm:prSet presAssocID="{92DCE165-3576-4F67-BDC0-4201A1E10A3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6C03B34D-B7AF-4F19-9DAC-40EC9BD11518}" type="pres">
      <dgm:prSet presAssocID="{92DCE165-3576-4F67-BDC0-4201A1E10A35}" presName="spaceRect" presStyleCnt="0"/>
      <dgm:spPr/>
    </dgm:pt>
    <dgm:pt modelId="{2E13E9E0-B585-4D1E-9528-2775AAB38072}" type="pres">
      <dgm:prSet presAssocID="{92DCE165-3576-4F67-BDC0-4201A1E10A35}" presName="parTx" presStyleLbl="revTx" presStyleIdx="0" presStyleCnt="3">
        <dgm:presLayoutVars>
          <dgm:chMax val="0"/>
          <dgm:chPref val="0"/>
        </dgm:presLayoutVars>
      </dgm:prSet>
      <dgm:spPr/>
    </dgm:pt>
    <dgm:pt modelId="{A34BA31E-0B83-4A96-9EF2-20E24510932D}" type="pres">
      <dgm:prSet presAssocID="{63184C03-E01C-49AF-9C46-C2C583F87212}" presName="sibTrans" presStyleCnt="0"/>
      <dgm:spPr/>
    </dgm:pt>
    <dgm:pt modelId="{8BB45E20-18BD-4D72-AE5D-F18BAD11F985}" type="pres">
      <dgm:prSet presAssocID="{2352E034-139A-4CA1-BCDD-2568E54B97DC}" presName="compNode" presStyleCnt="0"/>
      <dgm:spPr/>
    </dgm:pt>
    <dgm:pt modelId="{316B2E2A-F54D-4CB7-9C73-E116162AD2BF}" type="pres">
      <dgm:prSet presAssocID="{2352E034-139A-4CA1-BCDD-2568E54B97DC}" presName="bgRect" presStyleLbl="bgShp" presStyleIdx="1" presStyleCnt="3"/>
      <dgm:spPr/>
    </dgm:pt>
    <dgm:pt modelId="{C4BB0035-7D34-42CE-A669-6BD4C1DB88E2}" type="pres">
      <dgm:prSet presAssocID="{2352E034-139A-4CA1-BCDD-2568E54B97D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EC6602B3-C54C-4BEB-A17E-626C0A30CFF7}" type="pres">
      <dgm:prSet presAssocID="{2352E034-139A-4CA1-BCDD-2568E54B97DC}" presName="spaceRect" presStyleCnt="0"/>
      <dgm:spPr/>
    </dgm:pt>
    <dgm:pt modelId="{D6D77DDC-D74E-43B4-BD50-73B3E1B20DF8}" type="pres">
      <dgm:prSet presAssocID="{2352E034-139A-4CA1-BCDD-2568E54B97DC}" presName="parTx" presStyleLbl="revTx" presStyleIdx="1" presStyleCnt="3">
        <dgm:presLayoutVars>
          <dgm:chMax val="0"/>
          <dgm:chPref val="0"/>
        </dgm:presLayoutVars>
      </dgm:prSet>
      <dgm:spPr/>
    </dgm:pt>
    <dgm:pt modelId="{DD29B8B5-6273-47F6-A043-419B27540D5F}" type="pres">
      <dgm:prSet presAssocID="{3B1C52A4-2020-4E4A-AEF2-AA23087DD725}" presName="sibTrans" presStyleCnt="0"/>
      <dgm:spPr/>
    </dgm:pt>
    <dgm:pt modelId="{D677ED40-C114-4BBE-9D73-4E3F995BFAA4}" type="pres">
      <dgm:prSet presAssocID="{C47E1EDB-53B5-4626-A5D9-6DA836963CC0}" presName="compNode" presStyleCnt="0"/>
      <dgm:spPr/>
    </dgm:pt>
    <dgm:pt modelId="{C873B556-8446-4A17-8908-D4E2488E9929}" type="pres">
      <dgm:prSet presAssocID="{C47E1EDB-53B5-4626-A5D9-6DA836963CC0}" presName="bgRect" presStyleLbl="bgShp" presStyleIdx="2" presStyleCnt="3"/>
      <dgm:spPr/>
    </dgm:pt>
    <dgm:pt modelId="{9B6E9B96-D41A-4DB1-B626-9CA3215A797C}" type="pres">
      <dgm:prSet presAssocID="{C47E1EDB-53B5-4626-A5D9-6DA836963CC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CB61B16F-7D10-4B9F-B9D4-1640B9C12EAB}" type="pres">
      <dgm:prSet presAssocID="{C47E1EDB-53B5-4626-A5D9-6DA836963CC0}" presName="spaceRect" presStyleCnt="0"/>
      <dgm:spPr/>
    </dgm:pt>
    <dgm:pt modelId="{FF31EC28-0488-4F31-ABF5-CDF5B88921CF}" type="pres">
      <dgm:prSet presAssocID="{C47E1EDB-53B5-4626-A5D9-6DA836963CC0}" presName="parTx" presStyleLbl="revTx" presStyleIdx="2" presStyleCnt="3">
        <dgm:presLayoutVars>
          <dgm:chMax val="0"/>
          <dgm:chPref val="0"/>
        </dgm:presLayoutVars>
      </dgm:prSet>
      <dgm:spPr/>
    </dgm:pt>
  </dgm:ptLst>
  <dgm:cxnLst>
    <dgm:cxn modelId="{C056E21A-347C-4AB7-9D3B-798CC59DAA42}" srcId="{7A8A973E-1C2E-4F60-85AA-B93FAB538ED7}" destId="{C47E1EDB-53B5-4626-A5D9-6DA836963CC0}" srcOrd="2" destOrd="0" parTransId="{F2E4014D-CA29-46EB-8792-1CC65ADB9D9B}" sibTransId="{20F3A411-5562-40E9-B064-5CBF0572DF31}"/>
    <dgm:cxn modelId="{4384F223-0B82-4FD6-A166-093C62CD1B72}" srcId="{7A8A973E-1C2E-4F60-85AA-B93FAB538ED7}" destId="{92DCE165-3576-4F67-BDC0-4201A1E10A35}" srcOrd="0" destOrd="0" parTransId="{F4D0AB24-0FE1-411C-9B13-8E5ADB2396B1}" sibTransId="{63184C03-E01C-49AF-9C46-C2C583F87212}"/>
    <dgm:cxn modelId="{BC7B0F94-D9E4-4819-99D9-94B21D95953B}" srcId="{7A8A973E-1C2E-4F60-85AA-B93FAB538ED7}" destId="{2352E034-139A-4CA1-BCDD-2568E54B97DC}" srcOrd="1" destOrd="0" parTransId="{F01AE26A-5B35-42C7-923C-6B67EBCDB9DF}" sibTransId="{3B1C52A4-2020-4E4A-AEF2-AA23087DD725}"/>
    <dgm:cxn modelId="{B73D479F-B8ED-4F38-A78C-2E4A1C63927A}" type="presOf" srcId="{2352E034-139A-4CA1-BCDD-2568E54B97DC}" destId="{D6D77DDC-D74E-43B4-BD50-73B3E1B20DF8}" srcOrd="0" destOrd="0" presId="urn:microsoft.com/office/officeart/2018/2/layout/IconVerticalSolidList"/>
    <dgm:cxn modelId="{0F1801E3-D132-4744-AA30-7FF5D6AE57DC}" type="presOf" srcId="{C47E1EDB-53B5-4626-A5D9-6DA836963CC0}" destId="{FF31EC28-0488-4F31-ABF5-CDF5B88921CF}" srcOrd="0" destOrd="0" presId="urn:microsoft.com/office/officeart/2018/2/layout/IconVerticalSolidList"/>
    <dgm:cxn modelId="{185CA7FE-A7C9-47C7-AEF5-995CBBAF48D7}" type="presOf" srcId="{7A8A973E-1C2E-4F60-85AA-B93FAB538ED7}" destId="{5B34F4E5-DCF3-481E-9331-E6877B0E3768}" srcOrd="0" destOrd="0" presId="urn:microsoft.com/office/officeart/2018/2/layout/IconVerticalSolidList"/>
    <dgm:cxn modelId="{FE7A9FFF-2FE4-448B-B095-C4B3F389F03E}" type="presOf" srcId="{92DCE165-3576-4F67-BDC0-4201A1E10A35}" destId="{2E13E9E0-B585-4D1E-9528-2775AAB38072}" srcOrd="0" destOrd="0" presId="urn:microsoft.com/office/officeart/2018/2/layout/IconVerticalSolidList"/>
    <dgm:cxn modelId="{3889857D-CA7F-4032-B52C-1AC14D966335}" type="presParOf" srcId="{5B34F4E5-DCF3-481E-9331-E6877B0E3768}" destId="{F3B0030A-0C15-4903-A484-CCF6455458B0}" srcOrd="0" destOrd="0" presId="urn:microsoft.com/office/officeart/2018/2/layout/IconVerticalSolidList"/>
    <dgm:cxn modelId="{2D460F77-3AE7-4FCD-A67D-3BE0EB8B0DF1}" type="presParOf" srcId="{F3B0030A-0C15-4903-A484-CCF6455458B0}" destId="{9CF69312-7C89-4CC4-93B3-7C604C771D74}" srcOrd="0" destOrd="0" presId="urn:microsoft.com/office/officeart/2018/2/layout/IconVerticalSolidList"/>
    <dgm:cxn modelId="{3FCA351C-B3B0-43D7-BF9E-017D7EF3A8C2}" type="presParOf" srcId="{F3B0030A-0C15-4903-A484-CCF6455458B0}" destId="{CF2D2ED3-C836-49AC-BE57-55C1FAA287A4}" srcOrd="1" destOrd="0" presId="urn:microsoft.com/office/officeart/2018/2/layout/IconVerticalSolidList"/>
    <dgm:cxn modelId="{B37106A7-817A-4E8A-8691-70C0000A22A5}" type="presParOf" srcId="{F3B0030A-0C15-4903-A484-CCF6455458B0}" destId="{6C03B34D-B7AF-4F19-9DAC-40EC9BD11518}" srcOrd="2" destOrd="0" presId="urn:microsoft.com/office/officeart/2018/2/layout/IconVerticalSolidList"/>
    <dgm:cxn modelId="{21D1D781-BEAF-462A-AC60-0BA4B151F07F}" type="presParOf" srcId="{F3B0030A-0C15-4903-A484-CCF6455458B0}" destId="{2E13E9E0-B585-4D1E-9528-2775AAB38072}" srcOrd="3" destOrd="0" presId="urn:microsoft.com/office/officeart/2018/2/layout/IconVerticalSolidList"/>
    <dgm:cxn modelId="{29F9E08F-05A5-4AE5-BBC1-458D5952E481}" type="presParOf" srcId="{5B34F4E5-DCF3-481E-9331-E6877B0E3768}" destId="{A34BA31E-0B83-4A96-9EF2-20E24510932D}" srcOrd="1" destOrd="0" presId="urn:microsoft.com/office/officeart/2018/2/layout/IconVerticalSolidList"/>
    <dgm:cxn modelId="{4DE9084F-8D0C-46C5-BF5D-671ABC9F668D}" type="presParOf" srcId="{5B34F4E5-DCF3-481E-9331-E6877B0E3768}" destId="{8BB45E20-18BD-4D72-AE5D-F18BAD11F985}" srcOrd="2" destOrd="0" presId="urn:microsoft.com/office/officeart/2018/2/layout/IconVerticalSolidList"/>
    <dgm:cxn modelId="{AC616AE2-FA59-496F-88A1-5302729109C7}" type="presParOf" srcId="{8BB45E20-18BD-4D72-AE5D-F18BAD11F985}" destId="{316B2E2A-F54D-4CB7-9C73-E116162AD2BF}" srcOrd="0" destOrd="0" presId="urn:microsoft.com/office/officeart/2018/2/layout/IconVerticalSolidList"/>
    <dgm:cxn modelId="{FC5855C6-71F2-4074-89FA-7FE4C3B2D36B}" type="presParOf" srcId="{8BB45E20-18BD-4D72-AE5D-F18BAD11F985}" destId="{C4BB0035-7D34-42CE-A669-6BD4C1DB88E2}" srcOrd="1" destOrd="0" presId="urn:microsoft.com/office/officeart/2018/2/layout/IconVerticalSolidList"/>
    <dgm:cxn modelId="{B44CE341-D581-45B4-8E80-D310BBB91CE3}" type="presParOf" srcId="{8BB45E20-18BD-4D72-AE5D-F18BAD11F985}" destId="{EC6602B3-C54C-4BEB-A17E-626C0A30CFF7}" srcOrd="2" destOrd="0" presId="urn:microsoft.com/office/officeart/2018/2/layout/IconVerticalSolidList"/>
    <dgm:cxn modelId="{A1E5022B-5E8D-4594-AEE8-7FDEA0EEBFCC}" type="presParOf" srcId="{8BB45E20-18BD-4D72-AE5D-F18BAD11F985}" destId="{D6D77DDC-D74E-43B4-BD50-73B3E1B20DF8}" srcOrd="3" destOrd="0" presId="urn:microsoft.com/office/officeart/2018/2/layout/IconVerticalSolidList"/>
    <dgm:cxn modelId="{F98A6ED8-8271-4F9E-B72E-B7BC3FDDCE43}" type="presParOf" srcId="{5B34F4E5-DCF3-481E-9331-E6877B0E3768}" destId="{DD29B8B5-6273-47F6-A043-419B27540D5F}" srcOrd="3" destOrd="0" presId="urn:microsoft.com/office/officeart/2018/2/layout/IconVerticalSolidList"/>
    <dgm:cxn modelId="{197A2ED0-AE5C-48C2-897B-CD842173447A}" type="presParOf" srcId="{5B34F4E5-DCF3-481E-9331-E6877B0E3768}" destId="{D677ED40-C114-4BBE-9D73-4E3F995BFAA4}" srcOrd="4" destOrd="0" presId="urn:microsoft.com/office/officeart/2018/2/layout/IconVerticalSolidList"/>
    <dgm:cxn modelId="{260674ED-8DB7-4C8D-B0E9-A7AA163759E9}" type="presParOf" srcId="{D677ED40-C114-4BBE-9D73-4E3F995BFAA4}" destId="{C873B556-8446-4A17-8908-D4E2488E9929}" srcOrd="0" destOrd="0" presId="urn:microsoft.com/office/officeart/2018/2/layout/IconVerticalSolidList"/>
    <dgm:cxn modelId="{0DABB41C-79F5-4197-A865-0E1E1E2DE139}" type="presParOf" srcId="{D677ED40-C114-4BBE-9D73-4E3F995BFAA4}" destId="{9B6E9B96-D41A-4DB1-B626-9CA3215A797C}" srcOrd="1" destOrd="0" presId="urn:microsoft.com/office/officeart/2018/2/layout/IconVerticalSolidList"/>
    <dgm:cxn modelId="{9487B3C9-9A39-4D72-B796-109F77739DDD}" type="presParOf" srcId="{D677ED40-C114-4BBE-9D73-4E3F995BFAA4}" destId="{CB61B16F-7D10-4B9F-B9D4-1640B9C12EAB}" srcOrd="2" destOrd="0" presId="urn:microsoft.com/office/officeart/2018/2/layout/IconVerticalSolidList"/>
    <dgm:cxn modelId="{EC7F8996-29B3-4934-B9C0-8333EBCC4286}" type="presParOf" srcId="{D677ED40-C114-4BBE-9D73-4E3F995BFAA4}" destId="{FF31EC28-0488-4F31-ABF5-CDF5B88921C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66B7E9-B51F-417C-B025-12A49F98DC7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5669BCE-257E-4201-ADAD-9A2B405B6A76}">
      <dgm:prSet/>
      <dgm:spPr/>
      <dgm:t>
        <a:bodyPr/>
        <a:lstStyle/>
        <a:p>
          <a:pPr>
            <a:lnSpc>
              <a:spcPct val="100000"/>
            </a:lnSpc>
          </a:pPr>
          <a:r>
            <a:rPr lang="en-US"/>
            <a:t>Clear policies define allowed vs. prohibited AI use (and require attribution).</a:t>
          </a:r>
        </a:p>
      </dgm:t>
    </dgm:pt>
    <dgm:pt modelId="{7388BFA6-C084-408D-A4F1-6CE9E6C492A7}" type="parTrans" cxnId="{279F9F51-2120-40E9-9C71-6A357B81896D}">
      <dgm:prSet/>
      <dgm:spPr/>
      <dgm:t>
        <a:bodyPr/>
        <a:lstStyle/>
        <a:p>
          <a:endParaRPr lang="en-US"/>
        </a:p>
      </dgm:t>
    </dgm:pt>
    <dgm:pt modelId="{FE85DBCA-C8AE-4019-A790-2FBED9E30131}" type="sibTrans" cxnId="{279F9F51-2120-40E9-9C71-6A357B81896D}">
      <dgm:prSet/>
      <dgm:spPr/>
      <dgm:t>
        <a:bodyPr/>
        <a:lstStyle/>
        <a:p>
          <a:pPr>
            <a:lnSpc>
              <a:spcPct val="100000"/>
            </a:lnSpc>
          </a:pPr>
          <a:endParaRPr lang="en-US"/>
        </a:p>
      </dgm:t>
    </dgm:pt>
    <dgm:pt modelId="{3C8D9CE7-556A-48B2-A85E-5FA84B675FE5}">
      <dgm:prSet/>
      <dgm:spPr/>
      <dgm:t>
        <a:bodyPr/>
        <a:lstStyle/>
        <a:p>
          <a:pPr>
            <a:lnSpc>
              <a:spcPct val="100000"/>
            </a:lnSpc>
          </a:pPr>
          <a:r>
            <a:rPr lang="en-US"/>
            <a:t>Privacy with data governance: minimize exposure to sensitive data; evaluate vendors.</a:t>
          </a:r>
        </a:p>
      </dgm:t>
    </dgm:pt>
    <dgm:pt modelId="{CC66A58F-28EA-48E4-A6AC-5435AE80D222}" type="parTrans" cxnId="{F3BC10A5-8175-4699-B8C6-7AE21D09AF4D}">
      <dgm:prSet/>
      <dgm:spPr/>
      <dgm:t>
        <a:bodyPr/>
        <a:lstStyle/>
        <a:p>
          <a:endParaRPr lang="en-US"/>
        </a:p>
      </dgm:t>
    </dgm:pt>
    <dgm:pt modelId="{18638644-DF9A-4823-8766-15CC9847D04B}" type="sibTrans" cxnId="{F3BC10A5-8175-4699-B8C6-7AE21D09AF4D}">
      <dgm:prSet/>
      <dgm:spPr/>
      <dgm:t>
        <a:bodyPr/>
        <a:lstStyle/>
        <a:p>
          <a:pPr>
            <a:lnSpc>
              <a:spcPct val="100000"/>
            </a:lnSpc>
          </a:pPr>
          <a:endParaRPr lang="en-US"/>
        </a:p>
      </dgm:t>
    </dgm:pt>
    <dgm:pt modelId="{62D52EDB-BEC2-4CC1-8C7C-3C5ABE59B68A}">
      <dgm:prSet/>
      <dgm:spPr/>
      <dgm:t>
        <a:bodyPr/>
        <a:lstStyle/>
        <a:p>
          <a:pPr>
            <a:lnSpc>
              <a:spcPct val="100000"/>
            </a:lnSpc>
          </a:pPr>
          <a:r>
            <a:rPr lang="en-US"/>
            <a:t>Bias and fairness checks: monitor for disproportionate harm to certain groups.</a:t>
          </a:r>
        </a:p>
      </dgm:t>
    </dgm:pt>
    <dgm:pt modelId="{25789F46-4973-408F-9E85-D6A0C53EAD72}" type="parTrans" cxnId="{D04915CC-1480-475A-946B-88FC669B4945}">
      <dgm:prSet/>
      <dgm:spPr/>
      <dgm:t>
        <a:bodyPr/>
        <a:lstStyle/>
        <a:p>
          <a:endParaRPr lang="en-US"/>
        </a:p>
      </dgm:t>
    </dgm:pt>
    <dgm:pt modelId="{719B0AD3-3F27-4731-A348-95623268BBE7}" type="sibTrans" cxnId="{D04915CC-1480-475A-946B-88FC669B4945}">
      <dgm:prSet/>
      <dgm:spPr/>
      <dgm:t>
        <a:bodyPr/>
        <a:lstStyle/>
        <a:p>
          <a:pPr>
            <a:lnSpc>
              <a:spcPct val="100000"/>
            </a:lnSpc>
          </a:pPr>
          <a:endParaRPr lang="en-US"/>
        </a:p>
      </dgm:t>
    </dgm:pt>
    <dgm:pt modelId="{99F26F87-90B1-4FAD-AE5F-0E36AED132E8}">
      <dgm:prSet/>
      <dgm:spPr/>
      <dgm:t>
        <a:bodyPr/>
        <a:lstStyle/>
        <a:p>
          <a:pPr>
            <a:lnSpc>
              <a:spcPct val="100000"/>
            </a:lnSpc>
          </a:pPr>
          <a:r>
            <a:rPr lang="en-US"/>
            <a:t>Health/ethics guidance shows why governance matters for high-stakes decisions.</a:t>
          </a:r>
        </a:p>
      </dgm:t>
    </dgm:pt>
    <dgm:pt modelId="{FF49FA5E-D7C6-4930-945B-800B4D42F2AC}" type="parTrans" cxnId="{2FC538CF-4E70-4880-B8F8-BAE393A9877C}">
      <dgm:prSet/>
      <dgm:spPr/>
      <dgm:t>
        <a:bodyPr/>
        <a:lstStyle/>
        <a:p>
          <a:endParaRPr lang="en-US"/>
        </a:p>
      </dgm:t>
    </dgm:pt>
    <dgm:pt modelId="{9B3A7E5E-CD12-4B79-8693-695A1F339EB5}" type="sibTrans" cxnId="{2FC538CF-4E70-4880-B8F8-BAE393A9877C}">
      <dgm:prSet/>
      <dgm:spPr/>
      <dgm:t>
        <a:bodyPr/>
        <a:lstStyle/>
        <a:p>
          <a:endParaRPr lang="en-US"/>
        </a:p>
      </dgm:t>
    </dgm:pt>
    <dgm:pt modelId="{E7E99A51-0BED-4B37-8146-4610884B37BE}" type="pres">
      <dgm:prSet presAssocID="{2066B7E9-B51F-417C-B025-12A49F98DC71}" presName="root" presStyleCnt="0">
        <dgm:presLayoutVars>
          <dgm:dir/>
          <dgm:resizeHandles val="exact"/>
        </dgm:presLayoutVars>
      </dgm:prSet>
      <dgm:spPr/>
    </dgm:pt>
    <dgm:pt modelId="{B7628AFB-E6AB-40F2-823A-59689A6B84E4}" type="pres">
      <dgm:prSet presAssocID="{2066B7E9-B51F-417C-B025-12A49F98DC71}" presName="container" presStyleCnt="0">
        <dgm:presLayoutVars>
          <dgm:dir/>
          <dgm:resizeHandles val="exact"/>
        </dgm:presLayoutVars>
      </dgm:prSet>
      <dgm:spPr/>
    </dgm:pt>
    <dgm:pt modelId="{F7932BD4-8800-4BA9-B265-65360C16BC6F}" type="pres">
      <dgm:prSet presAssocID="{75669BCE-257E-4201-ADAD-9A2B405B6A76}" presName="compNode" presStyleCnt="0"/>
      <dgm:spPr/>
    </dgm:pt>
    <dgm:pt modelId="{052D9FD6-F837-4B6B-B379-70A4BD259B98}" type="pres">
      <dgm:prSet presAssocID="{75669BCE-257E-4201-ADAD-9A2B405B6A76}" presName="iconBgRect" presStyleLbl="bgShp" presStyleIdx="0" presStyleCnt="4"/>
      <dgm:spPr/>
    </dgm:pt>
    <dgm:pt modelId="{7C6D0B17-9EF6-41AC-BE05-71625FCB24B7}" type="pres">
      <dgm:prSet presAssocID="{75669BCE-257E-4201-ADAD-9A2B405B6A7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o sign"/>
        </a:ext>
      </dgm:extLst>
    </dgm:pt>
    <dgm:pt modelId="{6D93B8C5-7052-481F-ADA3-DB127AD9CB1E}" type="pres">
      <dgm:prSet presAssocID="{75669BCE-257E-4201-ADAD-9A2B405B6A76}" presName="spaceRect" presStyleCnt="0"/>
      <dgm:spPr/>
    </dgm:pt>
    <dgm:pt modelId="{A0FC46C2-F8DB-4871-85E3-E6EEDDE7A841}" type="pres">
      <dgm:prSet presAssocID="{75669BCE-257E-4201-ADAD-9A2B405B6A76}" presName="textRect" presStyleLbl="revTx" presStyleIdx="0" presStyleCnt="4">
        <dgm:presLayoutVars>
          <dgm:chMax val="1"/>
          <dgm:chPref val="1"/>
        </dgm:presLayoutVars>
      </dgm:prSet>
      <dgm:spPr/>
    </dgm:pt>
    <dgm:pt modelId="{36C5F073-51C2-4631-A087-9E36C9B79772}" type="pres">
      <dgm:prSet presAssocID="{FE85DBCA-C8AE-4019-A790-2FBED9E30131}" presName="sibTrans" presStyleLbl="sibTrans2D1" presStyleIdx="0" presStyleCnt="0"/>
      <dgm:spPr/>
    </dgm:pt>
    <dgm:pt modelId="{7BC322E8-4EB0-4BAD-A41B-3CA782558C94}" type="pres">
      <dgm:prSet presAssocID="{3C8D9CE7-556A-48B2-A85E-5FA84B675FE5}" presName="compNode" presStyleCnt="0"/>
      <dgm:spPr/>
    </dgm:pt>
    <dgm:pt modelId="{AC242FBC-3B15-4FD0-8CD0-C7A8B0658B0E}" type="pres">
      <dgm:prSet presAssocID="{3C8D9CE7-556A-48B2-A85E-5FA84B675FE5}" presName="iconBgRect" presStyleLbl="bgShp" presStyleIdx="1" presStyleCnt="4"/>
      <dgm:spPr/>
    </dgm:pt>
    <dgm:pt modelId="{7C5A23D2-3DE4-478A-A462-CBE6482D155B}" type="pres">
      <dgm:prSet presAssocID="{3C8D9CE7-556A-48B2-A85E-5FA84B675FE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curity Camera Sign"/>
        </a:ext>
      </dgm:extLst>
    </dgm:pt>
    <dgm:pt modelId="{1DD19794-B89A-41F7-AC5D-38A36444EE2A}" type="pres">
      <dgm:prSet presAssocID="{3C8D9CE7-556A-48B2-A85E-5FA84B675FE5}" presName="spaceRect" presStyleCnt="0"/>
      <dgm:spPr/>
    </dgm:pt>
    <dgm:pt modelId="{411A67D6-BBF0-4F5D-B183-8BFCDE4AAA35}" type="pres">
      <dgm:prSet presAssocID="{3C8D9CE7-556A-48B2-A85E-5FA84B675FE5}" presName="textRect" presStyleLbl="revTx" presStyleIdx="1" presStyleCnt="4">
        <dgm:presLayoutVars>
          <dgm:chMax val="1"/>
          <dgm:chPref val="1"/>
        </dgm:presLayoutVars>
      </dgm:prSet>
      <dgm:spPr/>
    </dgm:pt>
    <dgm:pt modelId="{E860E8AF-6484-462A-98F3-112AC4C88039}" type="pres">
      <dgm:prSet presAssocID="{18638644-DF9A-4823-8766-15CC9847D04B}" presName="sibTrans" presStyleLbl="sibTrans2D1" presStyleIdx="0" presStyleCnt="0"/>
      <dgm:spPr/>
    </dgm:pt>
    <dgm:pt modelId="{54EE0FB1-8C3F-408A-B5C4-2357EE5EC0DD}" type="pres">
      <dgm:prSet presAssocID="{62D52EDB-BEC2-4CC1-8C7C-3C5ABE59B68A}" presName="compNode" presStyleCnt="0"/>
      <dgm:spPr/>
    </dgm:pt>
    <dgm:pt modelId="{3C8F2082-CB34-44C5-A519-7A042E4509F9}" type="pres">
      <dgm:prSet presAssocID="{62D52EDB-BEC2-4CC1-8C7C-3C5ABE59B68A}" presName="iconBgRect" presStyleLbl="bgShp" presStyleIdx="2" presStyleCnt="4"/>
      <dgm:spPr/>
    </dgm:pt>
    <dgm:pt modelId="{3D00AE6C-6B50-4D93-884E-8E9D4A4894A0}" type="pres">
      <dgm:prSet presAssocID="{62D52EDB-BEC2-4CC1-8C7C-3C5ABE59B68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Judge"/>
        </a:ext>
      </dgm:extLst>
    </dgm:pt>
    <dgm:pt modelId="{676B0D42-1261-4E88-B722-62FDE7C0F86E}" type="pres">
      <dgm:prSet presAssocID="{62D52EDB-BEC2-4CC1-8C7C-3C5ABE59B68A}" presName="spaceRect" presStyleCnt="0"/>
      <dgm:spPr/>
    </dgm:pt>
    <dgm:pt modelId="{20F710D7-8AB9-4180-AAB6-4DDF4298CCBB}" type="pres">
      <dgm:prSet presAssocID="{62D52EDB-BEC2-4CC1-8C7C-3C5ABE59B68A}" presName="textRect" presStyleLbl="revTx" presStyleIdx="2" presStyleCnt="4">
        <dgm:presLayoutVars>
          <dgm:chMax val="1"/>
          <dgm:chPref val="1"/>
        </dgm:presLayoutVars>
      </dgm:prSet>
      <dgm:spPr/>
    </dgm:pt>
    <dgm:pt modelId="{77C1305E-71CF-4103-AE7F-BC445C890CC3}" type="pres">
      <dgm:prSet presAssocID="{719B0AD3-3F27-4731-A348-95623268BBE7}" presName="sibTrans" presStyleLbl="sibTrans2D1" presStyleIdx="0" presStyleCnt="0"/>
      <dgm:spPr/>
    </dgm:pt>
    <dgm:pt modelId="{F122E4E6-76E1-4EA0-A390-DA398D115499}" type="pres">
      <dgm:prSet presAssocID="{99F26F87-90B1-4FAD-AE5F-0E36AED132E8}" presName="compNode" presStyleCnt="0"/>
      <dgm:spPr/>
    </dgm:pt>
    <dgm:pt modelId="{C6331D2A-D361-48DE-BF87-8171B5462CF0}" type="pres">
      <dgm:prSet presAssocID="{99F26F87-90B1-4FAD-AE5F-0E36AED132E8}" presName="iconBgRect" presStyleLbl="bgShp" presStyleIdx="3" presStyleCnt="4"/>
      <dgm:spPr/>
    </dgm:pt>
    <dgm:pt modelId="{B9AFE38C-4A4C-4C92-B7DE-549DC4A1FC47}" type="pres">
      <dgm:prSet presAssocID="{99F26F87-90B1-4FAD-AE5F-0E36AED132E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cales of Justice"/>
        </a:ext>
      </dgm:extLst>
    </dgm:pt>
    <dgm:pt modelId="{3C9D2437-129D-424D-927D-8BF85ED9E8EC}" type="pres">
      <dgm:prSet presAssocID="{99F26F87-90B1-4FAD-AE5F-0E36AED132E8}" presName="spaceRect" presStyleCnt="0"/>
      <dgm:spPr/>
    </dgm:pt>
    <dgm:pt modelId="{60F9885D-5CC0-4791-91E2-2B91C7885A7B}" type="pres">
      <dgm:prSet presAssocID="{99F26F87-90B1-4FAD-AE5F-0E36AED132E8}" presName="textRect" presStyleLbl="revTx" presStyleIdx="3" presStyleCnt="4">
        <dgm:presLayoutVars>
          <dgm:chMax val="1"/>
          <dgm:chPref val="1"/>
        </dgm:presLayoutVars>
      </dgm:prSet>
      <dgm:spPr/>
    </dgm:pt>
  </dgm:ptLst>
  <dgm:cxnLst>
    <dgm:cxn modelId="{C650FB1C-5A7D-2D4B-A79C-101996A396B7}" type="presOf" srcId="{3C8D9CE7-556A-48B2-A85E-5FA84B675FE5}" destId="{411A67D6-BBF0-4F5D-B183-8BFCDE4AAA35}" srcOrd="0" destOrd="0" presId="urn:microsoft.com/office/officeart/2018/2/layout/IconCircleList"/>
    <dgm:cxn modelId="{5B58F81F-7899-4142-B655-34D2A281D4AC}" type="presOf" srcId="{99F26F87-90B1-4FAD-AE5F-0E36AED132E8}" destId="{60F9885D-5CC0-4791-91E2-2B91C7885A7B}" srcOrd="0" destOrd="0" presId="urn:microsoft.com/office/officeart/2018/2/layout/IconCircleList"/>
    <dgm:cxn modelId="{68903538-20ED-3547-A5A6-28F8818D22A8}" type="presOf" srcId="{2066B7E9-B51F-417C-B025-12A49F98DC71}" destId="{E7E99A51-0BED-4B37-8146-4610884B37BE}" srcOrd="0" destOrd="0" presId="urn:microsoft.com/office/officeart/2018/2/layout/IconCircleList"/>
    <dgm:cxn modelId="{279F9F51-2120-40E9-9C71-6A357B81896D}" srcId="{2066B7E9-B51F-417C-B025-12A49F98DC71}" destId="{75669BCE-257E-4201-ADAD-9A2B405B6A76}" srcOrd="0" destOrd="0" parTransId="{7388BFA6-C084-408D-A4F1-6CE9E6C492A7}" sibTransId="{FE85DBCA-C8AE-4019-A790-2FBED9E30131}"/>
    <dgm:cxn modelId="{DA147D5C-47CA-254A-BB11-C7D1121827C7}" type="presOf" srcId="{719B0AD3-3F27-4731-A348-95623268BBE7}" destId="{77C1305E-71CF-4103-AE7F-BC445C890CC3}" srcOrd="0" destOrd="0" presId="urn:microsoft.com/office/officeart/2018/2/layout/IconCircleList"/>
    <dgm:cxn modelId="{9E8DD49E-224B-0A49-ACB9-6EA133A57C2D}" type="presOf" srcId="{FE85DBCA-C8AE-4019-A790-2FBED9E30131}" destId="{36C5F073-51C2-4631-A087-9E36C9B79772}" srcOrd="0" destOrd="0" presId="urn:microsoft.com/office/officeart/2018/2/layout/IconCircleList"/>
    <dgm:cxn modelId="{F3BC10A5-8175-4699-B8C6-7AE21D09AF4D}" srcId="{2066B7E9-B51F-417C-B025-12A49F98DC71}" destId="{3C8D9CE7-556A-48B2-A85E-5FA84B675FE5}" srcOrd="1" destOrd="0" parTransId="{CC66A58F-28EA-48E4-A6AC-5435AE80D222}" sibTransId="{18638644-DF9A-4823-8766-15CC9847D04B}"/>
    <dgm:cxn modelId="{761095B0-5F92-1F4A-B0BF-F50649775F35}" type="presOf" srcId="{18638644-DF9A-4823-8766-15CC9847D04B}" destId="{E860E8AF-6484-462A-98F3-112AC4C88039}" srcOrd="0" destOrd="0" presId="urn:microsoft.com/office/officeart/2018/2/layout/IconCircleList"/>
    <dgm:cxn modelId="{09E2E8C4-7700-A247-92E2-9669E5FB4D9C}" type="presOf" srcId="{62D52EDB-BEC2-4CC1-8C7C-3C5ABE59B68A}" destId="{20F710D7-8AB9-4180-AAB6-4DDF4298CCBB}" srcOrd="0" destOrd="0" presId="urn:microsoft.com/office/officeart/2018/2/layout/IconCircleList"/>
    <dgm:cxn modelId="{D04915CC-1480-475A-946B-88FC669B4945}" srcId="{2066B7E9-B51F-417C-B025-12A49F98DC71}" destId="{62D52EDB-BEC2-4CC1-8C7C-3C5ABE59B68A}" srcOrd="2" destOrd="0" parTransId="{25789F46-4973-408F-9E85-D6A0C53EAD72}" sibTransId="{719B0AD3-3F27-4731-A348-95623268BBE7}"/>
    <dgm:cxn modelId="{2FC538CF-4E70-4880-B8F8-BAE393A9877C}" srcId="{2066B7E9-B51F-417C-B025-12A49F98DC71}" destId="{99F26F87-90B1-4FAD-AE5F-0E36AED132E8}" srcOrd="3" destOrd="0" parTransId="{FF49FA5E-D7C6-4930-945B-800B4D42F2AC}" sibTransId="{9B3A7E5E-CD12-4B79-8693-695A1F339EB5}"/>
    <dgm:cxn modelId="{FF00F8F4-ECA7-254A-850E-07DF599B1B22}" type="presOf" srcId="{75669BCE-257E-4201-ADAD-9A2B405B6A76}" destId="{A0FC46C2-F8DB-4871-85E3-E6EEDDE7A841}" srcOrd="0" destOrd="0" presId="urn:microsoft.com/office/officeart/2018/2/layout/IconCircleList"/>
    <dgm:cxn modelId="{64139D84-E5B0-6441-9860-9C16E1B70DC7}" type="presParOf" srcId="{E7E99A51-0BED-4B37-8146-4610884B37BE}" destId="{B7628AFB-E6AB-40F2-823A-59689A6B84E4}" srcOrd="0" destOrd="0" presId="urn:microsoft.com/office/officeart/2018/2/layout/IconCircleList"/>
    <dgm:cxn modelId="{41DD3597-E28F-1442-ADF1-0F914E52AD89}" type="presParOf" srcId="{B7628AFB-E6AB-40F2-823A-59689A6B84E4}" destId="{F7932BD4-8800-4BA9-B265-65360C16BC6F}" srcOrd="0" destOrd="0" presId="urn:microsoft.com/office/officeart/2018/2/layout/IconCircleList"/>
    <dgm:cxn modelId="{FA2E234E-FC17-424C-B742-7AAEA49D6171}" type="presParOf" srcId="{F7932BD4-8800-4BA9-B265-65360C16BC6F}" destId="{052D9FD6-F837-4B6B-B379-70A4BD259B98}" srcOrd="0" destOrd="0" presId="urn:microsoft.com/office/officeart/2018/2/layout/IconCircleList"/>
    <dgm:cxn modelId="{C347B8B0-1245-584C-95D4-4C5B4924FCCF}" type="presParOf" srcId="{F7932BD4-8800-4BA9-B265-65360C16BC6F}" destId="{7C6D0B17-9EF6-41AC-BE05-71625FCB24B7}" srcOrd="1" destOrd="0" presId="urn:microsoft.com/office/officeart/2018/2/layout/IconCircleList"/>
    <dgm:cxn modelId="{2224B875-D63F-4A4A-9E6E-85804C6E436B}" type="presParOf" srcId="{F7932BD4-8800-4BA9-B265-65360C16BC6F}" destId="{6D93B8C5-7052-481F-ADA3-DB127AD9CB1E}" srcOrd="2" destOrd="0" presId="urn:microsoft.com/office/officeart/2018/2/layout/IconCircleList"/>
    <dgm:cxn modelId="{BCEFC381-8BCF-4A4B-A28C-9DD18F28F3FF}" type="presParOf" srcId="{F7932BD4-8800-4BA9-B265-65360C16BC6F}" destId="{A0FC46C2-F8DB-4871-85E3-E6EEDDE7A841}" srcOrd="3" destOrd="0" presId="urn:microsoft.com/office/officeart/2018/2/layout/IconCircleList"/>
    <dgm:cxn modelId="{57A0B9E7-9102-A142-B84C-9D5573B94EA0}" type="presParOf" srcId="{B7628AFB-E6AB-40F2-823A-59689A6B84E4}" destId="{36C5F073-51C2-4631-A087-9E36C9B79772}" srcOrd="1" destOrd="0" presId="urn:microsoft.com/office/officeart/2018/2/layout/IconCircleList"/>
    <dgm:cxn modelId="{21D0B0AC-DEC9-0547-925E-E1697B3556F6}" type="presParOf" srcId="{B7628AFB-E6AB-40F2-823A-59689A6B84E4}" destId="{7BC322E8-4EB0-4BAD-A41B-3CA782558C94}" srcOrd="2" destOrd="0" presId="urn:microsoft.com/office/officeart/2018/2/layout/IconCircleList"/>
    <dgm:cxn modelId="{20CDF95D-D7B5-8C4D-987C-A6FB2FE11672}" type="presParOf" srcId="{7BC322E8-4EB0-4BAD-A41B-3CA782558C94}" destId="{AC242FBC-3B15-4FD0-8CD0-C7A8B0658B0E}" srcOrd="0" destOrd="0" presId="urn:microsoft.com/office/officeart/2018/2/layout/IconCircleList"/>
    <dgm:cxn modelId="{00596EA4-FC32-F14B-BA06-96EEA5957FE2}" type="presParOf" srcId="{7BC322E8-4EB0-4BAD-A41B-3CA782558C94}" destId="{7C5A23D2-3DE4-478A-A462-CBE6482D155B}" srcOrd="1" destOrd="0" presId="urn:microsoft.com/office/officeart/2018/2/layout/IconCircleList"/>
    <dgm:cxn modelId="{98BDC5C6-A557-8B40-86E8-999E86127483}" type="presParOf" srcId="{7BC322E8-4EB0-4BAD-A41B-3CA782558C94}" destId="{1DD19794-B89A-41F7-AC5D-38A36444EE2A}" srcOrd="2" destOrd="0" presId="urn:microsoft.com/office/officeart/2018/2/layout/IconCircleList"/>
    <dgm:cxn modelId="{3A374BE7-FDD0-1C4C-B50C-3D88F5C4A26C}" type="presParOf" srcId="{7BC322E8-4EB0-4BAD-A41B-3CA782558C94}" destId="{411A67D6-BBF0-4F5D-B183-8BFCDE4AAA35}" srcOrd="3" destOrd="0" presId="urn:microsoft.com/office/officeart/2018/2/layout/IconCircleList"/>
    <dgm:cxn modelId="{7C9C61F4-B5FB-6245-ABC0-2ABA524EDBFF}" type="presParOf" srcId="{B7628AFB-E6AB-40F2-823A-59689A6B84E4}" destId="{E860E8AF-6484-462A-98F3-112AC4C88039}" srcOrd="3" destOrd="0" presId="urn:microsoft.com/office/officeart/2018/2/layout/IconCircleList"/>
    <dgm:cxn modelId="{36C22331-610B-9A41-8651-4D4099E3AA1B}" type="presParOf" srcId="{B7628AFB-E6AB-40F2-823A-59689A6B84E4}" destId="{54EE0FB1-8C3F-408A-B5C4-2357EE5EC0DD}" srcOrd="4" destOrd="0" presId="urn:microsoft.com/office/officeart/2018/2/layout/IconCircleList"/>
    <dgm:cxn modelId="{9CBF724F-12A3-DC4F-9E05-B7052248A9DB}" type="presParOf" srcId="{54EE0FB1-8C3F-408A-B5C4-2357EE5EC0DD}" destId="{3C8F2082-CB34-44C5-A519-7A042E4509F9}" srcOrd="0" destOrd="0" presId="urn:microsoft.com/office/officeart/2018/2/layout/IconCircleList"/>
    <dgm:cxn modelId="{F14B31EF-7EE6-B34B-9A1D-E4403A4FB09E}" type="presParOf" srcId="{54EE0FB1-8C3F-408A-B5C4-2357EE5EC0DD}" destId="{3D00AE6C-6B50-4D93-884E-8E9D4A4894A0}" srcOrd="1" destOrd="0" presId="urn:microsoft.com/office/officeart/2018/2/layout/IconCircleList"/>
    <dgm:cxn modelId="{DD609D7F-603E-0C49-A861-264E64BE6283}" type="presParOf" srcId="{54EE0FB1-8C3F-408A-B5C4-2357EE5EC0DD}" destId="{676B0D42-1261-4E88-B722-62FDE7C0F86E}" srcOrd="2" destOrd="0" presId="urn:microsoft.com/office/officeart/2018/2/layout/IconCircleList"/>
    <dgm:cxn modelId="{2B1D5AEE-7A0C-0047-B684-22EA1A0D16F1}" type="presParOf" srcId="{54EE0FB1-8C3F-408A-B5C4-2357EE5EC0DD}" destId="{20F710D7-8AB9-4180-AAB6-4DDF4298CCBB}" srcOrd="3" destOrd="0" presId="urn:microsoft.com/office/officeart/2018/2/layout/IconCircleList"/>
    <dgm:cxn modelId="{9619FFE1-CCFE-2F45-A777-CB1F1CDFA6E1}" type="presParOf" srcId="{B7628AFB-E6AB-40F2-823A-59689A6B84E4}" destId="{77C1305E-71CF-4103-AE7F-BC445C890CC3}" srcOrd="5" destOrd="0" presId="urn:microsoft.com/office/officeart/2018/2/layout/IconCircleList"/>
    <dgm:cxn modelId="{7A88DEC3-83B3-D343-90B1-F34AB197D2F3}" type="presParOf" srcId="{B7628AFB-E6AB-40F2-823A-59689A6B84E4}" destId="{F122E4E6-76E1-4EA0-A390-DA398D115499}" srcOrd="6" destOrd="0" presId="urn:microsoft.com/office/officeart/2018/2/layout/IconCircleList"/>
    <dgm:cxn modelId="{B1BD3778-DD9A-F04F-9C2B-E92CA34EEF70}" type="presParOf" srcId="{F122E4E6-76E1-4EA0-A390-DA398D115499}" destId="{C6331D2A-D361-48DE-BF87-8171B5462CF0}" srcOrd="0" destOrd="0" presId="urn:microsoft.com/office/officeart/2018/2/layout/IconCircleList"/>
    <dgm:cxn modelId="{7CB0FCB7-EA33-344D-8D87-F99D7D617C97}" type="presParOf" srcId="{F122E4E6-76E1-4EA0-A390-DA398D115499}" destId="{B9AFE38C-4A4C-4C92-B7DE-549DC4A1FC47}" srcOrd="1" destOrd="0" presId="urn:microsoft.com/office/officeart/2018/2/layout/IconCircleList"/>
    <dgm:cxn modelId="{0D0770A6-ED90-F14F-92CE-7A7E26061AA6}" type="presParOf" srcId="{F122E4E6-76E1-4EA0-A390-DA398D115499}" destId="{3C9D2437-129D-424D-927D-8BF85ED9E8EC}" srcOrd="2" destOrd="0" presId="urn:microsoft.com/office/officeart/2018/2/layout/IconCircleList"/>
    <dgm:cxn modelId="{CC3F2CD5-B7E9-B64D-8A9F-8DA5853D560F}" type="presParOf" srcId="{F122E4E6-76E1-4EA0-A390-DA398D115499}" destId="{60F9885D-5CC0-4791-91E2-2B91C7885A7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F48C1AC-F9E4-42CD-8014-B97AFD0CAFC5}"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B5EA3858-CE17-4848-A1D7-396AA4442138}">
      <dgm:prSet/>
      <dgm:spPr/>
      <dgm:t>
        <a:bodyPr/>
        <a:lstStyle/>
        <a:p>
          <a:pPr>
            <a:lnSpc>
              <a:spcPct val="100000"/>
            </a:lnSpc>
            <a:defRPr b="1"/>
          </a:pPr>
          <a:r>
            <a:rPr lang="en-US"/>
            <a:t>Counterargument:</a:t>
          </a:r>
        </a:p>
      </dgm:t>
    </dgm:pt>
    <dgm:pt modelId="{DCCC7AA1-B3D7-4176-B239-36518A8021E9}" type="parTrans" cxnId="{F1885B44-FDBD-4C58-963F-9D3A12DB3BB0}">
      <dgm:prSet/>
      <dgm:spPr/>
      <dgm:t>
        <a:bodyPr/>
        <a:lstStyle/>
        <a:p>
          <a:endParaRPr lang="en-US"/>
        </a:p>
      </dgm:t>
    </dgm:pt>
    <dgm:pt modelId="{81A229FF-D734-479F-817C-93856BAF79DD}" type="sibTrans" cxnId="{F1885B44-FDBD-4C58-963F-9D3A12DB3BB0}">
      <dgm:prSet/>
      <dgm:spPr/>
      <dgm:t>
        <a:bodyPr/>
        <a:lstStyle/>
        <a:p>
          <a:endParaRPr lang="en-US"/>
        </a:p>
      </dgm:t>
    </dgm:pt>
    <dgm:pt modelId="{10EF0E34-B106-429F-95D8-2181CB695AF0}">
      <dgm:prSet/>
      <dgm:spPr/>
      <dgm:t>
        <a:bodyPr/>
        <a:lstStyle/>
        <a:p>
          <a:pPr>
            <a:lnSpc>
              <a:spcPct val="100000"/>
            </a:lnSpc>
          </a:pPr>
          <a:r>
            <a:rPr lang="en-US" dirty="0"/>
            <a:t>AI encourages cheating and weakens critical thinking.</a:t>
          </a:r>
        </a:p>
      </dgm:t>
    </dgm:pt>
    <dgm:pt modelId="{FCAA5061-DA50-4BAE-89C2-F2412184A2E4}" type="parTrans" cxnId="{63FA7B51-B3BD-4492-930C-3EAD077D6497}">
      <dgm:prSet/>
      <dgm:spPr/>
      <dgm:t>
        <a:bodyPr/>
        <a:lstStyle/>
        <a:p>
          <a:endParaRPr lang="en-US"/>
        </a:p>
      </dgm:t>
    </dgm:pt>
    <dgm:pt modelId="{F7F31D03-A8FA-4835-B3EF-DC5F6B168F7C}" type="sibTrans" cxnId="{63FA7B51-B3BD-4492-930C-3EAD077D6497}">
      <dgm:prSet/>
      <dgm:spPr/>
      <dgm:t>
        <a:bodyPr/>
        <a:lstStyle/>
        <a:p>
          <a:endParaRPr lang="en-US"/>
        </a:p>
      </dgm:t>
    </dgm:pt>
    <dgm:pt modelId="{246D8354-BE2F-4ACC-A7C2-595DF6F52B2A}">
      <dgm:prSet/>
      <dgm:spPr/>
      <dgm:t>
        <a:bodyPr/>
        <a:lstStyle/>
        <a:p>
          <a:pPr>
            <a:lnSpc>
              <a:spcPct val="100000"/>
            </a:lnSpc>
            <a:defRPr b="1"/>
          </a:pPr>
          <a:r>
            <a:rPr lang="en-US"/>
            <a:t>Response:</a:t>
          </a:r>
        </a:p>
      </dgm:t>
    </dgm:pt>
    <dgm:pt modelId="{31E0D916-42B8-46FF-81DC-E9306FA55367}" type="parTrans" cxnId="{EAC98B21-7028-48C6-A480-7504F537CEBF}">
      <dgm:prSet/>
      <dgm:spPr/>
      <dgm:t>
        <a:bodyPr/>
        <a:lstStyle/>
        <a:p>
          <a:endParaRPr lang="en-US"/>
        </a:p>
      </dgm:t>
    </dgm:pt>
    <dgm:pt modelId="{9358671B-D6E3-410C-9EB4-F064FFDF7F74}" type="sibTrans" cxnId="{EAC98B21-7028-48C6-A480-7504F537CEBF}">
      <dgm:prSet/>
      <dgm:spPr/>
      <dgm:t>
        <a:bodyPr/>
        <a:lstStyle/>
        <a:p>
          <a:endParaRPr lang="en-US"/>
        </a:p>
      </dgm:t>
    </dgm:pt>
    <dgm:pt modelId="{0ED7769E-E483-4CFC-9073-12E433CF925B}">
      <dgm:prSet/>
      <dgm:spPr/>
      <dgm:t>
        <a:bodyPr/>
        <a:lstStyle/>
        <a:p>
          <a:pPr>
            <a:lnSpc>
              <a:spcPct val="100000"/>
            </a:lnSpc>
          </a:pPr>
          <a:r>
            <a:rPr lang="en-US" dirty="0"/>
            <a:t>The risk is real, but it’s managed through design and policy.</a:t>
          </a:r>
        </a:p>
      </dgm:t>
    </dgm:pt>
    <dgm:pt modelId="{095875EB-83C7-4E79-BE06-55ED59329383}" type="parTrans" cxnId="{8BF23786-04D2-4AC9-A80C-BD87A38DFF1B}">
      <dgm:prSet/>
      <dgm:spPr/>
      <dgm:t>
        <a:bodyPr/>
        <a:lstStyle/>
        <a:p>
          <a:endParaRPr lang="en-US"/>
        </a:p>
      </dgm:t>
    </dgm:pt>
    <dgm:pt modelId="{136D1E0A-B23F-4155-8502-9902AF94DE69}" type="sibTrans" cxnId="{8BF23786-04D2-4AC9-A80C-BD87A38DFF1B}">
      <dgm:prSet/>
      <dgm:spPr/>
      <dgm:t>
        <a:bodyPr/>
        <a:lstStyle/>
        <a:p>
          <a:endParaRPr lang="en-US"/>
        </a:p>
      </dgm:t>
    </dgm:pt>
    <dgm:pt modelId="{8A717FC1-448A-4886-91C8-ABB7F97158F2}">
      <dgm:prSet/>
      <dgm:spPr/>
      <dgm:t>
        <a:bodyPr/>
        <a:lstStyle/>
        <a:p>
          <a:pPr>
            <a:lnSpc>
              <a:spcPct val="100000"/>
            </a:lnSpc>
          </a:pPr>
          <a:r>
            <a:rPr lang="en-US"/>
            <a:t>Teach AI literacy: verification, source checking, and limits.</a:t>
          </a:r>
        </a:p>
      </dgm:t>
    </dgm:pt>
    <dgm:pt modelId="{01D85DD0-1417-406D-92A6-9675227F34EA}" type="parTrans" cxnId="{9C71F837-AB86-46EB-8F49-DDB208DF4B4A}">
      <dgm:prSet/>
      <dgm:spPr/>
      <dgm:t>
        <a:bodyPr/>
        <a:lstStyle/>
        <a:p>
          <a:endParaRPr lang="en-US"/>
        </a:p>
      </dgm:t>
    </dgm:pt>
    <dgm:pt modelId="{9E3606EF-21BD-4E1F-84DC-9B23451D40D1}" type="sibTrans" cxnId="{9C71F837-AB86-46EB-8F49-DDB208DF4B4A}">
      <dgm:prSet/>
      <dgm:spPr/>
      <dgm:t>
        <a:bodyPr/>
        <a:lstStyle/>
        <a:p>
          <a:endParaRPr lang="en-US"/>
        </a:p>
      </dgm:t>
    </dgm:pt>
    <dgm:pt modelId="{99E8BE26-9652-465E-AF52-6562E8552ED6}">
      <dgm:prSet/>
      <dgm:spPr/>
      <dgm:t>
        <a:bodyPr/>
        <a:lstStyle/>
        <a:p>
          <a:pPr>
            <a:lnSpc>
              <a:spcPct val="100000"/>
            </a:lnSpc>
          </a:pPr>
          <a:r>
            <a:rPr lang="en-US"/>
            <a:t>Use assessment strategies that require process (drafts, reflections, oral defense).</a:t>
          </a:r>
        </a:p>
      </dgm:t>
    </dgm:pt>
    <dgm:pt modelId="{F1D18D61-0F2F-423B-880A-5C00381EAA93}" type="parTrans" cxnId="{991783EB-622F-4EE0-B96C-AB56A37BBF6F}">
      <dgm:prSet/>
      <dgm:spPr/>
      <dgm:t>
        <a:bodyPr/>
        <a:lstStyle/>
        <a:p>
          <a:endParaRPr lang="en-US"/>
        </a:p>
      </dgm:t>
    </dgm:pt>
    <dgm:pt modelId="{2573B619-8411-4824-A4F2-2BC43B383CEE}" type="sibTrans" cxnId="{991783EB-622F-4EE0-B96C-AB56A37BBF6F}">
      <dgm:prSet/>
      <dgm:spPr/>
      <dgm:t>
        <a:bodyPr/>
        <a:lstStyle/>
        <a:p>
          <a:endParaRPr lang="en-US"/>
        </a:p>
      </dgm:t>
    </dgm:pt>
    <dgm:pt modelId="{44FD52A5-0FF6-4597-97FE-599D1DFDB04D}">
      <dgm:prSet/>
      <dgm:spPr/>
      <dgm:t>
        <a:bodyPr/>
        <a:lstStyle/>
        <a:p>
          <a:pPr>
            <a:lnSpc>
              <a:spcPct val="100000"/>
            </a:lnSpc>
          </a:pPr>
          <a:r>
            <a:rPr lang="en-US"/>
            <a:t>Require disclosure/citation of AI assistance (transparency).</a:t>
          </a:r>
        </a:p>
      </dgm:t>
    </dgm:pt>
    <dgm:pt modelId="{F10A0C9B-FB9B-4170-873A-DFFB8ED05F28}" type="parTrans" cxnId="{C5750281-3A7E-4575-93B7-B06C020744DD}">
      <dgm:prSet/>
      <dgm:spPr/>
      <dgm:t>
        <a:bodyPr/>
        <a:lstStyle/>
        <a:p>
          <a:endParaRPr lang="en-US"/>
        </a:p>
      </dgm:t>
    </dgm:pt>
    <dgm:pt modelId="{B393B42F-E540-4C51-B793-C10280233481}" type="sibTrans" cxnId="{C5750281-3A7E-4575-93B7-B06C020744DD}">
      <dgm:prSet/>
      <dgm:spPr/>
      <dgm:t>
        <a:bodyPr/>
        <a:lstStyle/>
        <a:p>
          <a:endParaRPr lang="en-US"/>
        </a:p>
      </dgm:t>
    </dgm:pt>
    <dgm:pt modelId="{5BB4F760-F1EC-4605-9100-0010A0BB9899}" type="pres">
      <dgm:prSet presAssocID="{DF48C1AC-F9E4-42CD-8014-B97AFD0CAFC5}" presName="root" presStyleCnt="0">
        <dgm:presLayoutVars>
          <dgm:dir/>
          <dgm:resizeHandles val="exact"/>
        </dgm:presLayoutVars>
      </dgm:prSet>
      <dgm:spPr/>
    </dgm:pt>
    <dgm:pt modelId="{AF13A413-81AE-4D84-AFA3-50794FAA0573}" type="pres">
      <dgm:prSet presAssocID="{B5EA3858-CE17-4848-A1D7-396AA4442138}" presName="compNode" presStyleCnt="0"/>
      <dgm:spPr/>
    </dgm:pt>
    <dgm:pt modelId="{019D4016-5066-4C92-92C4-BA4D6E49BFE3}" type="pres">
      <dgm:prSet presAssocID="{B5EA3858-CE17-4848-A1D7-396AA444213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C4BCC86A-65E0-4B74-B990-CCA0B64DA794}" type="pres">
      <dgm:prSet presAssocID="{B5EA3858-CE17-4848-A1D7-396AA4442138}" presName="iconSpace" presStyleCnt="0"/>
      <dgm:spPr/>
    </dgm:pt>
    <dgm:pt modelId="{541787B7-5DD7-491A-A652-51A85FAC2CCA}" type="pres">
      <dgm:prSet presAssocID="{B5EA3858-CE17-4848-A1D7-396AA4442138}" presName="parTx" presStyleLbl="revTx" presStyleIdx="0" presStyleCnt="4">
        <dgm:presLayoutVars>
          <dgm:chMax val="0"/>
          <dgm:chPref val="0"/>
        </dgm:presLayoutVars>
      </dgm:prSet>
      <dgm:spPr/>
    </dgm:pt>
    <dgm:pt modelId="{A62D4EAA-889B-4991-9D68-D050DF39CDC1}" type="pres">
      <dgm:prSet presAssocID="{B5EA3858-CE17-4848-A1D7-396AA4442138}" presName="txSpace" presStyleCnt="0"/>
      <dgm:spPr/>
    </dgm:pt>
    <dgm:pt modelId="{33FECBD1-EB2B-4413-94BC-D8F7177CEB54}" type="pres">
      <dgm:prSet presAssocID="{B5EA3858-CE17-4848-A1D7-396AA4442138}" presName="desTx" presStyleLbl="revTx" presStyleIdx="1" presStyleCnt="4">
        <dgm:presLayoutVars/>
      </dgm:prSet>
      <dgm:spPr/>
    </dgm:pt>
    <dgm:pt modelId="{6D37EC51-8459-4FA2-AC84-2025B2E8C641}" type="pres">
      <dgm:prSet presAssocID="{81A229FF-D734-479F-817C-93856BAF79DD}" presName="sibTrans" presStyleCnt="0"/>
      <dgm:spPr/>
    </dgm:pt>
    <dgm:pt modelId="{F036795E-BFB8-4CCC-B8F3-DF0737ADBDC1}" type="pres">
      <dgm:prSet presAssocID="{246D8354-BE2F-4ACC-A7C2-595DF6F52B2A}" presName="compNode" presStyleCnt="0"/>
      <dgm:spPr/>
    </dgm:pt>
    <dgm:pt modelId="{2C73306E-B61B-43E2-8967-421CB954E31F}" type="pres">
      <dgm:prSet presAssocID="{246D8354-BE2F-4ACC-A7C2-595DF6F52B2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5E2F1687-D6E8-46E6-A71B-1FC2A1AF030E}" type="pres">
      <dgm:prSet presAssocID="{246D8354-BE2F-4ACC-A7C2-595DF6F52B2A}" presName="iconSpace" presStyleCnt="0"/>
      <dgm:spPr/>
    </dgm:pt>
    <dgm:pt modelId="{BA45B853-DDA8-408C-88A7-48406B4A6209}" type="pres">
      <dgm:prSet presAssocID="{246D8354-BE2F-4ACC-A7C2-595DF6F52B2A}" presName="parTx" presStyleLbl="revTx" presStyleIdx="2" presStyleCnt="4">
        <dgm:presLayoutVars>
          <dgm:chMax val="0"/>
          <dgm:chPref val="0"/>
        </dgm:presLayoutVars>
      </dgm:prSet>
      <dgm:spPr/>
    </dgm:pt>
    <dgm:pt modelId="{086ADF12-86FD-4AF4-B056-507225811D03}" type="pres">
      <dgm:prSet presAssocID="{246D8354-BE2F-4ACC-A7C2-595DF6F52B2A}" presName="txSpace" presStyleCnt="0"/>
      <dgm:spPr/>
    </dgm:pt>
    <dgm:pt modelId="{3EE51183-54CF-4195-B298-E35C9B5A075D}" type="pres">
      <dgm:prSet presAssocID="{246D8354-BE2F-4ACC-A7C2-595DF6F52B2A}" presName="desTx" presStyleLbl="revTx" presStyleIdx="3" presStyleCnt="4">
        <dgm:presLayoutVars/>
      </dgm:prSet>
      <dgm:spPr/>
    </dgm:pt>
  </dgm:ptLst>
  <dgm:cxnLst>
    <dgm:cxn modelId="{91460B00-608C-4496-B7AD-AE18D2CF1617}" type="presOf" srcId="{246D8354-BE2F-4ACC-A7C2-595DF6F52B2A}" destId="{BA45B853-DDA8-408C-88A7-48406B4A6209}" srcOrd="0" destOrd="0" presId="urn:microsoft.com/office/officeart/2018/2/layout/IconLabelDescriptionList"/>
    <dgm:cxn modelId="{EAC98B21-7028-48C6-A480-7504F537CEBF}" srcId="{DF48C1AC-F9E4-42CD-8014-B97AFD0CAFC5}" destId="{246D8354-BE2F-4ACC-A7C2-595DF6F52B2A}" srcOrd="1" destOrd="0" parTransId="{31E0D916-42B8-46FF-81DC-E9306FA55367}" sibTransId="{9358671B-D6E3-410C-9EB4-F064FFDF7F74}"/>
    <dgm:cxn modelId="{655B6E2C-FAE6-4228-856B-4A5AC80C04CA}" type="presOf" srcId="{10EF0E34-B106-429F-95D8-2181CB695AF0}" destId="{33FECBD1-EB2B-4413-94BC-D8F7177CEB54}" srcOrd="0" destOrd="0" presId="urn:microsoft.com/office/officeart/2018/2/layout/IconLabelDescriptionList"/>
    <dgm:cxn modelId="{9C71F837-AB86-46EB-8F49-DDB208DF4B4A}" srcId="{246D8354-BE2F-4ACC-A7C2-595DF6F52B2A}" destId="{8A717FC1-448A-4886-91C8-ABB7F97158F2}" srcOrd="1" destOrd="0" parTransId="{01D85DD0-1417-406D-92A6-9675227F34EA}" sibTransId="{9E3606EF-21BD-4E1F-84DC-9B23451D40D1}"/>
    <dgm:cxn modelId="{F1885B44-FDBD-4C58-963F-9D3A12DB3BB0}" srcId="{DF48C1AC-F9E4-42CD-8014-B97AFD0CAFC5}" destId="{B5EA3858-CE17-4848-A1D7-396AA4442138}" srcOrd="0" destOrd="0" parTransId="{DCCC7AA1-B3D7-4176-B239-36518A8021E9}" sibTransId="{81A229FF-D734-479F-817C-93856BAF79DD}"/>
    <dgm:cxn modelId="{63FA7B51-B3BD-4492-930C-3EAD077D6497}" srcId="{B5EA3858-CE17-4848-A1D7-396AA4442138}" destId="{10EF0E34-B106-429F-95D8-2181CB695AF0}" srcOrd="0" destOrd="0" parTransId="{FCAA5061-DA50-4BAE-89C2-F2412184A2E4}" sibTransId="{F7F31D03-A8FA-4835-B3EF-DC5F6B168F7C}"/>
    <dgm:cxn modelId="{1605256A-D034-437F-8503-A13CFD4C7457}" type="presOf" srcId="{99E8BE26-9652-465E-AF52-6562E8552ED6}" destId="{3EE51183-54CF-4195-B298-E35C9B5A075D}" srcOrd="0" destOrd="2" presId="urn:microsoft.com/office/officeart/2018/2/layout/IconLabelDescriptionList"/>
    <dgm:cxn modelId="{73D2DA6D-9A16-4295-AE07-1248738037C7}" type="presOf" srcId="{44FD52A5-0FF6-4597-97FE-599D1DFDB04D}" destId="{3EE51183-54CF-4195-B298-E35C9B5A075D}" srcOrd="0" destOrd="3" presId="urn:microsoft.com/office/officeart/2018/2/layout/IconLabelDescriptionList"/>
    <dgm:cxn modelId="{FC035071-41B4-4852-AB35-455D3E3130E7}" type="presOf" srcId="{0ED7769E-E483-4CFC-9073-12E433CF925B}" destId="{3EE51183-54CF-4195-B298-E35C9B5A075D}" srcOrd="0" destOrd="0" presId="urn:microsoft.com/office/officeart/2018/2/layout/IconLabelDescriptionList"/>
    <dgm:cxn modelId="{C5750281-3A7E-4575-93B7-B06C020744DD}" srcId="{246D8354-BE2F-4ACC-A7C2-595DF6F52B2A}" destId="{44FD52A5-0FF6-4597-97FE-599D1DFDB04D}" srcOrd="3" destOrd="0" parTransId="{F10A0C9B-FB9B-4170-873A-DFFB8ED05F28}" sibTransId="{B393B42F-E540-4C51-B793-C10280233481}"/>
    <dgm:cxn modelId="{8BF23786-04D2-4AC9-A80C-BD87A38DFF1B}" srcId="{246D8354-BE2F-4ACC-A7C2-595DF6F52B2A}" destId="{0ED7769E-E483-4CFC-9073-12E433CF925B}" srcOrd="0" destOrd="0" parTransId="{095875EB-83C7-4E79-BE06-55ED59329383}" sibTransId="{136D1E0A-B23F-4155-8502-9902AF94DE69}"/>
    <dgm:cxn modelId="{66C08FBC-6BE7-480D-93DE-14F359F5A1B5}" type="presOf" srcId="{DF48C1AC-F9E4-42CD-8014-B97AFD0CAFC5}" destId="{5BB4F760-F1EC-4605-9100-0010A0BB9899}" srcOrd="0" destOrd="0" presId="urn:microsoft.com/office/officeart/2018/2/layout/IconLabelDescriptionList"/>
    <dgm:cxn modelId="{08051EC7-A85B-4C09-A41D-9E38F1E3F4F9}" type="presOf" srcId="{8A717FC1-448A-4886-91C8-ABB7F97158F2}" destId="{3EE51183-54CF-4195-B298-E35C9B5A075D}" srcOrd="0" destOrd="1" presId="urn:microsoft.com/office/officeart/2018/2/layout/IconLabelDescriptionList"/>
    <dgm:cxn modelId="{991783EB-622F-4EE0-B96C-AB56A37BBF6F}" srcId="{246D8354-BE2F-4ACC-A7C2-595DF6F52B2A}" destId="{99E8BE26-9652-465E-AF52-6562E8552ED6}" srcOrd="2" destOrd="0" parTransId="{F1D18D61-0F2F-423B-880A-5C00381EAA93}" sibTransId="{2573B619-8411-4824-A4F2-2BC43B383CEE}"/>
    <dgm:cxn modelId="{58D90EFD-8D85-4E11-8697-65621137958B}" type="presOf" srcId="{B5EA3858-CE17-4848-A1D7-396AA4442138}" destId="{541787B7-5DD7-491A-A652-51A85FAC2CCA}" srcOrd="0" destOrd="0" presId="urn:microsoft.com/office/officeart/2018/2/layout/IconLabelDescriptionList"/>
    <dgm:cxn modelId="{49A2F99F-6E8D-41BE-8969-B2EBAD0C167F}" type="presParOf" srcId="{5BB4F760-F1EC-4605-9100-0010A0BB9899}" destId="{AF13A413-81AE-4D84-AFA3-50794FAA0573}" srcOrd="0" destOrd="0" presId="urn:microsoft.com/office/officeart/2018/2/layout/IconLabelDescriptionList"/>
    <dgm:cxn modelId="{5E5A6336-9963-441F-B77A-74E770A473DD}" type="presParOf" srcId="{AF13A413-81AE-4D84-AFA3-50794FAA0573}" destId="{019D4016-5066-4C92-92C4-BA4D6E49BFE3}" srcOrd="0" destOrd="0" presId="urn:microsoft.com/office/officeart/2018/2/layout/IconLabelDescriptionList"/>
    <dgm:cxn modelId="{5C230877-2A89-4ACF-8913-9A6082829F87}" type="presParOf" srcId="{AF13A413-81AE-4D84-AFA3-50794FAA0573}" destId="{C4BCC86A-65E0-4B74-B990-CCA0B64DA794}" srcOrd="1" destOrd="0" presId="urn:microsoft.com/office/officeart/2018/2/layout/IconLabelDescriptionList"/>
    <dgm:cxn modelId="{33EFFE58-5E76-4520-A886-6DEBF849447F}" type="presParOf" srcId="{AF13A413-81AE-4D84-AFA3-50794FAA0573}" destId="{541787B7-5DD7-491A-A652-51A85FAC2CCA}" srcOrd="2" destOrd="0" presId="urn:microsoft.com/office/officeart/2018/2/layout/IconLabelDescriptionList"/>
    <dgm:cxn modelId="{1F3F80DD-3298-4603-93EB-A0337B470FFC}" type="presParOf" srcId="{AF13A413-81AE-4D84-AFA3-50794FAA0573}" destId="{A62D4EAA-889B-4991-9D68-D050DF39CDC1}" srcOrd="3" destOrd="0" presId="urn:microsoft.com/office/officeart/2018/2/layout/IconLabelDescriptionList"/>
    <dgm:cxn modelId="{238C28DB-D6F3-477A-B518-30B2FBAFE210}" type="presParOf" srcId="{AF13A413-81AE-4D84-AFA3-50794FAA0573}" destId="{33FECBD1-EB2B-4413-94BC-D8F7177CEB54}" srcOrd="4" destOrd="0" presId="urn:microsoft.com/office/officeart/2018/2/layout/IconLabelDescriptionList"/>
    <dgm:cxn modelId="{5325EB92-C632-479D-BFE4-97F119F4FBF6}" type="presParOf" srcId="{5BB4F760-F1EC-4605-9100-0010A0BB9899}" destId="{6D37EC51-8459-4FA2-AC84-2025B2E8C641}" srcOrd="1" destOrd="0" presId="urn:microsoft.com/office/officeart/2018/2/layout/IconLabelDescriptionList"/>
    <dgm:cxn modelId="{22A5D9AB-A8B6-4920-8B2E-885FC009BE7E}" type="presParOf" srcId="{5BB4F760-F1EC-4605-9100-0010A0BB9899}" destId="{F036795E-BFB8-4CCC-B8F3-DF0737ADBDC1}" srcOrd="2" destOrd="0" presId="urn:microsoft.com/office/officeart/2018/2/layout/IconLabelDescriptionList"/>
    <dgm:cxn modelId="{8DC6BA1A-2099-4A45-A6AE-494C40323F06}" type="presParOf" srcId="{F036795E-BFB8-4CCC-B8F3-DF0737ADBDC1}" destId="{2C73306E-B61B-43E2-8967-421CB954E31F}" srcOrd="0" destOrd="0" presId="urn:microsoft.com/office/officeart/2018/2/layout/IconLabelDescriptionList"/>
    <dgm:cxn modelId="{2CC645AC-849C-4F53-9EC7-E940782E51F8}" type="presParOf" srcId="{F036795E-BFB8-4CCC-B8F3-DF0737ADBDC1}" destId="{5E2F1687-D6E8-46E6-A71B-1FC2A1AF030E}" srcOrd="1" destOrd="0" presId="urn:microsoft.com/office/officeart/2018/2/layout/IconLabelDescriptionList"/>
    <dgm:cxn modelId="{305F50C1-54E8-437B-AC61-535B37C2B3CC}" type="presParOf" srcId="{F036795E-BFB8-4CCC-B8F3-DF0737ADBDC1}" destId="{BA45B853-DDA8-408C-88A7-48406B4A6209}" srcOrd="2" destOrd="0" presId="urn:microsoft.com/office/officeart/2018/2/layout/IconLabelDescriptionList"/>
    <dgm:cxn modelId="{8006E8EB-97C3-487D-93C7-72D2E28D3981}" type="presParOf" srcId="{F036795E-BFB8-4CCC-B8F3-DF0737ADBDC1}" destId="{086ADF12-86FD-4AF4-B056-507225811D03}" srcOrd="3" destOrd="0" presId="urn:microsoft.com/office/officeart/2018/2/layout/IconLabelDescriptionList"/>
    <dgm:cxn modelId="{64A394AD-A568-481F-AD07-C4429C024057}" type="presParOf" srcId="{F036795E-BFB8-4CCC-B8F3-DF0737ADBDC1}" destId="{3EE51183-54CF-4195-B298-E35C9B5A075D}"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4651AA-46F6-4C64-BA75-EE175F9793A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5EBF7D8-F7B1-4FBF-8EF3-16C83645BD0D}">
      <dgm:prSet/>
      <dgm:spPr/>
      <dgm:t>
        <a:bodyPr/>
        <a:lstStyle/>
        <a:p>
          <a:r>
            <a:rPr lang="en-US"/>
            <a:t>Responsible AI strengthens higher education</a:t>
          </a:r>
        </a:p>
      </dgm:t>
    </dgm:pt>
    <dgm:pt modelId="{F0456B51-9C32-485E-9E69-703581556149}" type="parTrans" cxnId="{8F3A9CE6-70DD-44B6-A3AC-1BA23F41B504}">
      <dgm:prSet/>
      <dgm:spPr/>
      <dgm:t>
        <a:bodyPr/>
        <a:lstStyle/>
        <a:p>
          <a:endParaRPr lang="en-US"/>
        </a:p>
      </dgm:t>
    </dgm:pt>
    <dgm:pt modelId="{3A3B7B1B-1025-456D-8B17-F7FB78C39AC3}" type="sibTrans" cxnId="{8F3A9CE6-70DD-44B6-A3AC-1BA23F41B504}">
      <dgm:prSet/>
      <dgm:spPr/>
      <dgm:t>
        <a:bodyPr/>
        <a:lstStyle/>
        <a:p>
          <a:endParaRPr lang="en-US"/>
        </a:p>
      </dgm:t>
    </dgm:pt>
    <dgm:pt modelId="{6B0427B5-BD38-402B-B0D2-B85308FAEA69}">
      <dgm:prSet/>
      <dgm:spPr/>
      <dgm:t>
        <a:bodyPr/>
        <a:lstStyle/>
        <a:p>
          <a:r>
            <a:rPr lang="en-US"/>
            <a:t>Ethical use is more effective than outright rejection</a:t>
          </a:r>
        </a:p>
      </dgm:t>
    </dgm:pt>
    <dgm:pt modelId="{9D66DB62-B8C3-42E3-B709-420FE6070205}" type="parTrans" cxnId="{A944101D-6437-442C-B2B0-B1136583EFF0}">
      <dgm:prSet/>
      <dgm:spPr/>
      <dgm:t>
        <a:bodyPr/>
        <a:lstStyle/>
        <a:p>
          <a:endParaRPr lang="en-US"/>
        </a:p>
      </dgm:t>
    </dgm:pt>
    <dgm:pt modelId="{9310A119-F76F-4ACD-8823-FFB1B7F15C98}" type="sibTrans" cxnId="{A944101D-6437-442C-B2B0-B1136583EFF0}">
      <dgm:prSet/>
      <dgm:spPr/>
      <dgm:t>
        <a:bodyPr/>
        <a:lstStyle/>
        <a:p>
          <a:endParaRPr lang="en-US"/>
        </a:p>
      </dgm:t>
    </dgm:pt>
    <dgm:pt modelId="{72E5FAE9-8038-4B02-9588-C7A1F54FB202}">
      <dgm:prSet/>
      <dgm:spPr/>
      <dgm:t>
        <a:bodyPr/>
        <a:lstStyle/>
        <a:p>
          <a:r>
            <a:rPr lang="en-US"/>
            <a:t>Continuous evaluation using critical thinking standards is essential</a:t>
          </a:r>
        </a:p>
      </dgm:t>
    </dgm:pt>
    <dgm:pt modelId="{6D26AB54-E562-43C5-ACDF-104FC73D40E4}" type="parTrans" cxnId="{2ED92001-CB37-47B3-897A-E2C79173125F}">
      <dgm:prSet/>
      <dgm:spPr/>
      <dgm:t>
        <a:bodyPr/>
        <a:lstStyle/>
        <a:p>
          <a:endParaRPr lang="en-US"/>
        </a:p>
      </dgm:t>
    </dgm:pt>
    <dgm:pt modelId="{9F65E8FC-C557-4AAD-9DED-24237A8F251C}" type="sibTrans" cxnId="{2ED92001-CB37-47B3-897A-E2C79173125F}">
      <dgm:prSet/>
      <dgm:spPr/>
      <dgm:t>
        <a:bodyPr/>
        <a:lstStyle/>
        <a:p>
          <a:endParaRPr lang="en-US"/>
        </a:p>
      </dgm:t>
    </dgm:pt>
    <dgm:pt modelId="{D9E18B35-01A8-C942-957D-74E33CEBA659}" type="pres">
      <dgm:prSet presAssocID="{CD4651AA-46F6-4C64-BA75-EE175F9793AD}" presName="linear" presStyleCnt="0">
        <dgm:presLayoutVars>
          <dgm:animLvl val="lvl"/>
          <dgm:resizeHandles val="exact"/>
        </dgm:presLayoutVars>
      </dgm:prSet>
      <dgm:spPr/>
    </dgm:pt>
    <dgm:pt modelId="{BD991CD3-C298-E540-9540-35683C71F30E}" type="pres">
      <dgm:prSet presAssocID="{F5EBF7D8-F7B1-4FBF-8EF3-16C83645BD0D}" presName="parentText" presStyleLbl="node1" presStyleIdx="0" presStyleCnt="3">
        <dgm:presLayoutVars>
          <dgm:chMax val="0"/>
          <dgm:bulletEnabled val="1"/>
        </dgm:presLayoutVars>
      </dgm:prSet>
      <dgm:spPr/>
    </dgm:pt>
    <dgm:pt modelId="{C63B248A-D9EC-2645-8D82-E6B53D9D4B95}" type="pres">
      <dgm:prSet presAssocID="{3A3B7B1B-1025-456D-8B17-F7FB78C39AC3}" presName="spacer" presStyleCnt="0"/>
      <dgm:spPr/>
    </dgm:pt>
    <dgm:pt modelId="{7FBFA87D-9527-5C4A-8DB1-D9553398868C}" type="pres">
      <dgm:prSet presAssocID="{6B0427B5-BD38-402B-B0D2-B85308FAEA69}" presName="parentText" presStyleLbl="node1" presStyleIdx="1" presStyleCnt="3">
        <dgm:presLayoutVars>
          <dgm:chMax val="0"/>
          <dgm:bulletEnabled val="1"/>
        </dgm:presLayoutVars>
      </dgm:prSet>
      <dgm:spPr/>
    </dgm:pt>
    <dgm:pt modelId="{288555D9-5FEA-4542-BEAC-60FAD41362F7}" type="pres">
      <dgm:prSet presAssocID="{9310A119-F76F-4ACD-8823-FFB1B7F15C98}" presName="spacer" presStyleCnt="0"/>
      <dgm:spPr/>
    </dgm:pt>
    <dgm:pt modelId="{4F80412F-6C5B-0746-AF08-CC9ACC6C3711}" type="pres">
      <dgm:prSet presAssocID="{72E5FAE9-8038-4B02-9588-C7A1F54FB202}" presName="parentText" presStyleLbl="node1" presStyleIdx="2" presStyleCnt="3">
        <dgm:presLayoutVars>
          <dgm:chMax val="0"/>
          <dgm:bulletEnabled val="1"/>
        </dgm:presLayoutVars>
      </dgm:prSet>
      <dgm:spPr/>
    </dgm:pt>
  </dgm:ptLst>
  <dgm:cxnLst>
    <dgm:cxn modelId="{2ED92001-CB37-47B3-897A-E2C79173125F}" srcId="{CD4651AA-46F6-4C64-BA75-EE175F9793AD}" destId="{72E5FAE9-8038-4B02-9588-C7A1F54FB202}" srcOrd="2" destOrd="0" parTransId="{6D26AB54-E562-43C5-ACDF-104FC73D40E4}" sibTransId="{9F65E8FC-C557-4AAD-9DED-24237A8F251C}"/>
    <dgm:cxn modelId="{A944101D-6437-442C-B2B0-B1136583EFF0}" srcId="{CD4651AA-46F6-4C64-BA75-EE175F9793AD}" destId="{6B0427B5-BD38-402B-B0D2-B85308FAEA69}" srcOrd="1" destOrd="0" parTransId="{9D66DB62-B8C3-42E3-B709-420FE6070205}" sibTransId="{9310A119-F76F-4ACD-8823-FFB1B7F15C98}"/>
    <dgm:cxn modelId="{EBBC6C34-4594-B146-A9BB-FA95B2A9D41A}" type="presOf" srcId="{CD4651AA-46F6-4C64-BA75-EE175F9793AD}" destId="{D9E18B35-01A8-C942-957D-74E33CEBA659}" srcOrd="0" destOrd="0" presId="urn:microsoft.com/office/officeart/2005/8/layout/vList2"/>
    <dgm:cxn modelId="{F1358A82-8626-204D-9D58-1D00369721D6}" type="presOf" srcId="{72E5FAE9-8038-4B02-9588-C7A1F54FB202}" destId="{4F80412F-6C5B-0746-AF08-CC9ACC6C3711}" srcOrd="0" destOrd="0" presId="urn:microsoft.com/office/officeart/2005/8/layout/vList2"/>
    <dgm:cxn modelId="{2D4FB28F-8443-7943-B03B-248E32E3DC49}" type="presOf" srcId="{F5EBF7D8-F7B1-4FBF-8EF3-16C83645BD0D}" destId="{BD991CD3-C298-E540-9540-35683C71F30E}" srcOrd="0" destOrd="0" presId="urn:microsoft.com/office/officeart/2005/8/layout/vList2"/>
    <dgm:cxn modelId="{B3F133CC-0656-254E-9526-81EFFCD897ED}" type="presOf" srcId="{6B0427B5-BD38-402B-B0D2-B85308FAEA69}" destId="{7FBFA87D-9527-5C4A-8DB1-D9553398868C}" srcOrd="0" destOrd="0" presId="urn:microsoft.com/office/officeart/2005/8/layout/vList2"/>
    <dgm:cxn modelId="{8F3A9CE6-70DD-44B6-A3AC-1BA23F41B504}" srcId="{CD4651AA-46F6-4C64-BA75-EE175F9793AD}" destId="{F5EBF7D8-F7B1-4FBF-8EF3-16C83645BD0D}" srcOrd="0" destOrd="0" parTransId="{F0456B51-9C32-485E-9E69-703581556149}" sibTransId="{3A3B7B1B-1025-456D-8B17-F7FB78C39AC3}"/>
    <dgm:cxn modelId="{AAB715F5-FA3B-9E4C-B489-74C21A6531DA}" type="presParOf" srcId="{D9E18B35-01A8-C942-957D-74E33CEBA659}" destId="{BD991CD3-C298-E540-9540-35683C71F30E}" srcOrd="0" destOrd="0" presId="urn:microsoft.com/office/officeart/2005/8/layout/vList2"/>
    <dgm:cxn modelId="{7235B7EC-357C-2149-B55B-6844DE3CCB21}" type="presParOf" srcId="{D9E18B35-01A8-C942-957D-74E33CEBA659}" destId="{C63B248A-D9EC-2645-8D82-E6B53D9D4B95}" srcOrd="1" destOrd="0" presId="urn:microsoft.com/office/officeart/2005/8/layout/vList2"/>
    <dgm:cxn modelId="{716B7969-2D75-C04C-BF49-480338553C85}" type="presParOf" srcId="{D9E18B35-01A8-C942-957D-74E33CEBA659}" destId="{7FBFA87D-9527-5C4A-8DB1-D9553398868C}" srcOrd="2" destOrd="0" presId="urn:microsoft.com/office/officeart/2005/8/layout/vList2"/>
    <dgm:cxn modelId="{858B17D4-D1B1-CD40-B21B-AE9EED7F5E5B}" type="presParOf" srcId="{D9E18B35-01A8-C942-957D-74E33CEBA659}" destId="{288555D9-5FEA-4542-BEAC-60FAD41362F7}" srcOrd="3" destOrd="0" presId="urn:microsoft.com/office/officeart/2005/8/layout/vList2"/>
    <dgm:cxn modelId="{5720B7D8-B5D3-814D-8509-65EF28CB6AAC}" type="presParOf" srcId="{D9E18B35-01A8-C942-957D-74E33CEBA659}" destId="{4F80412F-6C5B-0746-AF08-CC9ACC6C371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DA22EE-420C-47B3-BCC6-7E39D348AEE1}">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E6CAA8-ADBF-48CE-91E8-EB21C3CB2103}">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29EBF3-3F75-4A8A-98B5-FAED8A7EAEBD}">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AI tools are already embedded in higher education (writing support, tutoring, analytics).</a:t>
          </a:r>
        </a:p>
      </dsp:txBody>
      <dsp:txXfrm>
        <a:off x="1435590" y="531"/>
        <a:ext cx="9080009" cy="1242935"/>
      </dsp:txXfrm>
    </dsp:sp>
    <dsp:sp modelId="{BD93606C-DBDD-4284-ACA4-EDE6B0CA576E}">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A1D475-C4E9-49AC-9172-91132A92FCA1}">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6E5CF6-2A26-46CF-845C-C2B2B8991FF3}">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Benefits are real, but risks include bias, privacy issues, and academic misuse.</a:t>
          </a:r>
        </a:p>
      </dsp:txBody>
      <dsp:txXfrm>
        <a:off x="1435590" y="1554201"/>
        <a:ext cx="9080009" cy="1242935"/>
      </dsp:txXfrm>
    </dsp:sp>
    <dsp:sp modelId="{670309E1-1858-42FF-BDD0-6D5E06A2899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BBA85F-8FAD-488A-93BA-5D85F1817E3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3520B3-9DE3-41CD-B1AF-A6AFC487F11A}">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The key question is not AI or no AI, it’s really, how do we use it responsibly?</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40459F-1CDB-F341-A1D2-9B1E2EA1D473}">
      <dsp:nvSpPr>
        <dsp:cNvPr id="0" name=""/>
        <dsp:cNvSpPr/>
      </dsp:nvSpPr>
      <dsp:spPr>
        <a:xfrm>
          <a:off x="0" y="41544"/>
          <a:ext cx="10515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Higher education should adopt AI to improve learning and access, but only under transparent policies and ethical guidelines that protect students and academic integrity.</a:t>
          </a:r>
        </a:p>
      </dsp:txBody>
      <dsp:txXfrm>
        <a:off x="67110" y="108654"/>
        <a:ext cx="10381380" cy="1240530"/>
      </dsp:txXfrm>
    </dsp:sp>
    <dsp:sp modelId="{A5E354AB-5F9A-874B-A410-3C5E7427C645}">
      <dsp:nvSpPr>
        <dsp:cNvPr id="0" name=""/>
        <dsp:cNvSpPr/>
      </dsp:nvSpPr>
      <dsp:spPr>
        <a:xfrm>
          <a:off x="0" y="1488294"/>
          <a:ext cx="10515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My claim: The responsible-use model is stronger than either full adoption with no guardrails or total rejection.</a:t>
          </a:r>
        </a:p>
      </dsp:txBody>
      <dsp:txXfrm>
        <a:off x="67110" y="1555404"/>
        <a:ext cx="10381380" cy="1240530"/>
      </dsp:txXfrm>
    </dsp:sp>
    <dsp:sp modelId="{B4637CB3-C348-AE45-AE43-8AB4DDBF1717}">
      <dsp:nvSpPr>
        <dsp:cNvPr id="0" name=""/>
        <dsp:cNvSpPr/>
      </dsp:nvSpPr>
      <dsp:spPr>
        <a:xfrm>
          <a:off x="0" y="2935044"/>
          <a:ext cx="10515600" cy="13747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Roadmap: personalization → accessibility → supplemental support → safeguards → refutation.</a:t>
          </a:r>
        </a:p>
      </dsp:txBody>
      <dsp:txXfrm>
        <a:off x="67110" y="3002154"/>
        <a:ext cx="10381380" cy="12405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E3B2F9-011B-3C43-970B-A725B4668627}">
      <dsp:nvSpPr>
        <dsp:cNvPr id="0" name=""/>
        <dsp:cNvSpPr/>
      </dsp:nvSpPr>
      <dsp:spPr>
        <a:xfrm>
          <a:off x="0"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61D9E6-EAFD-9B42-BAF5-E9B5510E1B4C}">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AI-powered supports can improve access for students with disabilities and language barriers.</a:t>
          </a:r>
        </a:p>
      </dsp:txBody>
      <dsp:txXfrm>
        <a:off x="383617" y="1447754"/>
        <a:ext cx="2847502" cy="1768010"/>
      </dsp:txXfrm>
    </dsp:sp>
    <dsp:sp modelId="{823B0E48-6863-2F4B-A8FD-185D85FF522F}">
      <dsp:nvSpPr>
        <dsp:cNvPr id="0" name=""/>
        <dsp:cNvSpPr/>
      </dsp:nvSpPr>
      <dsp:spPr>
        <a:xfrm>
          <a:off x="3614737"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E834E6-78B9-3047-AA1C-D3439DDA1408}">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Examples: Captioning, text-to-speech/speech-to-text, translation, and reading supports.</a:t>
          </a:r>
        </a:p>
      </dsp:txBody>
      <dsp:txXfrm>
        <a:off x="3998355" y="1447754"/>
        <a:ext cx="2847502" cy="1768010"/>
      </dsp:txXfrm>
    </dsp:sp>
    <dsp:sp modelId="{5BDD1580-B282-A444-9140-854154B4165E}">
      <dsp:nvSpPr>
        <dsp:cNvPr id="0" name=""/>
        <dsp:cNvSpPr/>
      </dsp:nvSpPr>
      <dsp:spPr>
        <a:xfrm>
          <a:off x="7229475" y="1080567"/>
          <a:ext cx="2957512" cy="187802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A551A3-6B42-B240-83C7-0AF0106CFA12}">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Accessibility must be designed in, not added later (align tools with accessibility standards).</a:t>
          </a:r>
        </a:p>
      </dsp:txBody>
      <dsp:txXfrm>
        <a:off x="7613092" y="1447754"/>
        <a:ext cx="2847502" cy="17680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F69312-7C89-4CC4-93B3-7C604C771D74}">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2D2ED3-C836-49AC-BE57-55C1FAA287A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13E9E0-B585-4D1E-9528-2775AAB38072}">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AI can provide extra practice, feedback, and study support outside class hours.</a:t>
          </a:r>
        </a:p>
      </dsp:txBody>
      <dsp:txXfrm>
        <a:off x="1435590" y="531"/>
        <a:ext cx="9080009" cy="1242935"/>
      </dsp:txXfrm>
    </dsp:sp>
    <dsp:sp modelId="{316B2E2A-F54D-4CB7-9C73-E116162AD2B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BB0035-7D34-42CE-A669-6BD4C1DB88E2}">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D77DDC-D74E-43B4-BD50-73B3E1B20DF8}">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This can free instructors to focus on mentoring, discussion, and higher-order learning.</a:t>
          </a:r>
        </a:p>
      </dsp:txBody>
      <dsp:txXfrm>
        <a:off x="1435590" y="1554201"/>
        <a:ext cx="9080009" cy="1242935"/>
      </dsp:txXfrm>
    </dsp:sp>
    <dsp:sp modelId="{C873B556-8446-4A17-8908-D4E2488E9929}">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6E9B96-D41A-4DB1-B626-9CA3215A797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1EC28-0488-4F31-ABF5-CDF5B88921CF}">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Institutions should treat AI outputs as assistive suggestions requiring human judgment.</a:t>
          </a:r>
        </a:p>
      </dsp:txBody>
      <dsp:txXfrm>
        <a:off x="1435590" y="3107870"/>
        <a:ext cx="9080009" cy="12429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D9FD6-F837-4B6B-B379-70A4BD259B98}">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6D0B17-9EF6-41AC-BE05-71625FCB24B7}">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FC46C2-F8DB-4871-85E3-E6EEDDE7A841}">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Clear policies define allowed vs. prohibited AI use (and require attribution).</a:t>
          </a:r>
        </a:p>
      </dsp:txBody>
      <dsp:txXfrm>
        <a:off x="1834517" y="469890"/>
        <a:ext cx="3148942" cy="1335915"/>
      </dsp:txXfrm>
    </dsp:sp>
    <dsp:sp modelId="{AC242FBC-3B15-4FD0-8CD0-C7A8B0658B0E}">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5A23D2-3DE4-478A-A462-CBE6482D155B}">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1A67D6-BBF0-4F5D-B183-8BFCDE4AAA35}">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Privacy with data governance: minimize exposure to sensitive data; evaluate vendors.</a:t>
          </a:r>
        </a:p>
      </dsp:txBody>
      <dsp:txXfrm>
        <a:off x="7154322" y="469890"/>
        <a:ext cx="3148942" cy="1335915"/>
      </dsp:txXfrm>
    </dsp:sp>
    <dsp:sp modelId="{3C8F2082-CB34-44C5-A519-7A042E4509F9}">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00AE6C-6B50-4D93-884E-8E9D4A4894A0}">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F710D7-8AB9-4180-AAB6-4DDF4298CCBB}">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Bias and fairness checks: monitor for disproportionate harm to certain groups.</a:t>
          </a:r>
        </a:p>
      </dsp:txBody>
      <dsp:txXfrm>
        <a:off x="1834517" y="2545532"/>
        <a:ext cx="3148942" cy="1335915"/>
      </dsp:txXfrm>
    </dsp:sp>
    <dsp:sp modelId="{C6331D2A-D361-48DE-BF87-8171B5462CF0}">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AFE38C-4A4C-4C92-B7DE-549DC4A1FC47}">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9885D-5CC0-4791-91E2-2B91C7885A7B}">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Health/ethics guidance shows why governance matters for high-stakes decisions.</a:t>
          </a:r>
        </a:p>
      </dsp:txBody>
      <dsp:txXfrm>
        <a:off x="7154322" y="2545532"/>
        <a:ext cx="3148942" cy="13359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9D4016-5066-4C92-92C4-BA4D6E49BFE3}">
      <dsp:nvSpPr>
        <dsp:cNvPr id="0" name=""/>
        <dsp:cNvSpPr/>
      </dsp:nvSpPr>
      <dsp:spPr>
        <a:xfrm>
          <a:off x="564387" y="216086"/>
          <a:ext cx="1510523" cy="1360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1787B7-5DD7-491A-A652-51A85FAC2CCA}">
      <dsp:nvSpPr>
        <dsp:cNvPr id="0" name=""/>
        <dsp:cNvSpPr/>
      </dsp:nvSpPr>
      <dsp:spPr>
        <a:xfrm>
          <a:off x="564387" y="1745109"/>
          <a:ext cx="4315781" cy="5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a:t>Counterargument:</a:t>
          </a:r>
        </a:p>
      </dsp:txBody>
      <dsp:txXfrm>
        <a:off x="564387" y="1745109"/>
        <a:ext cx="4315781" cy="583071"/>
      </dsp:txXfrm>
    </dsp:sp>
    <dsp:sp modelId="{33FECBD1-EB2B-4413-94BC-D8F7177CEB54}">
      <dsp:nvSpPr>
        <dsp:cNvPr id="0" name=""/>
        <dsp:cNvSpPr/>
      </dsp:nvSpPr>
      <dsp:spPr>
        <a:xfrm>
          <a:off x="564387" y="2406563"/>
          <a:ext cx="4315781" cy="1728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AI encourages cheating and weakens critical thinking.</a:t>
          </a:r>
        </a:p>
      </dsp:txBody>
      <dsp:txXfrm>
        <a:off x="564387" y="2406563"/>
        <a:ext cx="4315781" cy="1728688"/>
      </dsp:txXfrm>
    </dsp:sp>
    <dsp:sp modelId="{2C73306E-B61B-43E2-8967-421CB954E31F}">
      <dsp:nvSpPr>
        <dsp:cNvPr id="0" name=""/>
        <dsp:cNvSpPr/>
      </dsp:nvSpPr>
      <dsp:spPr>
        <a:xfrm>
          <a:off x="5635430" y="216086"/>
          <a:ext cx="1510523" cy="1360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45B853-DDA8-408C-88A7-48406B4A6209}">
      <dsp:nvSpPr>
        <dsp:cNvPr id="0" name=""/>
        <dsp:cNvSpPr/>
      </dsp:nvSpPr>
      <dsp:spPr>
        <a:xfrm>
          <a:off x="5635430" y="1745109"/>
          <a:ext cx="4315781" cy="5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a:t>Response:</a:t>
          </a:r>
        </a:p>
      </dsp:txBody>
      <dsp:txXfrm>
        <a:off x="5635430" y="1745109"/>
        <a:ext cx="4315781" cy="583071"/>
      </dsp:txXfrm>
    </dsp:sp>
    <dsp:sp modelId="{3EE51183-54CF-4195-B298-E35C9B5A075D}">
      <dsp:nvSpPr>
        <dsp:cNvPr id="0" name=""/>
        <dsp:cNvSpPr/>
      </dsp:nvSpPr>
      <dsp:spPr>
        <a:xfrm>
          <a:off x="5635430" y="2406563"/>
          <a:ext cx="4315781" cy="17286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The risk is real, but it’s managed through design and policy.</a:t>
          </a:r>
        </a:p>
        <a:p>
          <a:pPr marL="0" lvl="0" indent="0" algn="l" defTabSz="755650">
            <a:lnSpc>
              <a:spcPct val="100000"/>
            </a:lnSpc>
            <a:spcBef>
              <a:spcPct val="0"/>
            </a:spcBef>
            <a:spcAft>
              <a:spcPct val="35000"/>
            </a:spcAft>
            <a:buNone/>
          </a:pPr>
          <a:r>
            <a:rPr lang="en-US" sz="1700" kern="1200"/>
            <a:t>Teach AI literacy: verification, source checking, and limits.</a:t>
          </a:r>
        </a:p>
        <a:p>
          <a:pPr marL="0" lvl="0" indent="0" algn="l" defTabSz="755650">
            <a:lnSpc>
              <a:spcPct val="100000"/>
            </a:lnSpc>
            <a:spcBef>
              <a:spcPct val="0"/>
            </a:spcBef>
            <a:spcAft>
              <a:spcPct val="35000"/>
            </a:spcAft>
            <a:buNone/>
          </a:pPr>
          <a:r>
            <a:rPr lang="en-US" sz="1700" kern="1200"/>
            <a:t>Use assessment strategies that require process (drafts, reflections, oral defense).</a:t>
          </a:r>
        </a:p>
        <a:p>
          <a:pPr marL="0" lvl="0" indent="0" algn="l" defTabSz="755650">
            <a:lnSpc>
              <a:spcPct val="100000"/>
            </a:lnSpc>
            <a:spcBef>
              <a:spcPct val="0"/>
            </a:spcBef>
            <a:spcAft>
              <a:spcPct val="35000"/>
            </a:spcAft>
            <a:buNone/>
          </a:pPr>
          <a:r>
            <a:rPr lang="en-US" sz="1700" kern="1200"/>
            <a:t>Require disclosure/citation of AI assistance (transparency).</a:t>
          </a:r>
        </a:p>
      </dsp:txBody>
      <dsp:txXfrm>
        <a:off x="5635430" y="2406563"/>
        <a:ext cx="4315781" cy="17286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91CD3-C298-E540-9540-35683C71F30E}">
      <dsp:nvSpPr>
        <dsp:cNvPr id="0" name=""/>
        <dsp:cNvSpPr/>
      </dsp:nvSpPr>
      <dsp:spPr>
        <a:xfrm>
          <a:off x="0" y="41510"/>
          <a:ext cx="10515600" cy="13574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Responsible AI strengthens higher education</a:t>
          </a:r>
        </a:p>
      </dsp:txBody>
      <dsp:txXfrm>
        <a:off x="66267" y="107777"/>
        <a:ext cx="10383066" cy="1224958"/>
      </dsp:txXfrm>
    </dsp:sp>
    <dsp:sp modelId="{7FBFA87D-9527-5C4A-8DB1-D9553398868C}">
      <dsp:nvSpPr>
        <dsp:cNvPr id="0" name=""/>
        <dsp:cNvSpPr/>
      </dsp:nvSpPr>
      <dsp:spPr>
        <a:xfrm>
          <a:off x="0" y="1496922"/>
          <a:ext cx="10515600" cy="13574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Ethical use is more effective than outright rejection</a:t>
          </a:r>
        </a:p>
      </dsp:txBody>
      <dsp:txXfrm>
        <a:off x="66267" y="1563189"/>
        <a:ext cx="10383066" cy="1224958"/>
      </dsp:txXfrm>
    </dsp:sp>
    <dsp:sp modelId="{4F80412F-6C5B-0746-AF08-CC9ACC6C3711}">
      <dsp:nvSpPr>
        <dsp:cNvPr id="0" name=""/>
        <dsp:cNvSpPr/>
      </dsp:nvSpPr>
      <dsp:spPr>
        <a:xfrm>
          <a:off x="0" y="2952335"/>
          <a:ext cx="10515600" cy="13574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Continuous evaluation using critical thinking standards is essential</a:t>
          </a:r>
        </a:p>
      </dsp:txBody>
      <dsp:txXfrm>
        <a:off x="66267" y="3018602"/>
        <a:ext cx="10383066" cy="122495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45180-DADA-0341-B2E5-146BEF331285}" type="datetimeFigureOut">
              <a:rPr lang="en-US" smtClean="0"/>
              <a:t>1/13/26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228778-868B-1349-BF9C-39B56471A6A8}" type="slidenum">
              <a:rPr lang="en-US" smtClean="0"/>
              <a:t>‹#›</a:t>
            </a:fld>
            <a:endParaRPr lang="en-US"/>
          </a:p>
        </p:txBody>
      </p:sp>
    </p:spTree>
    <p:extLst>
      <p:ext uri="{BB962C8B-B14F-4D97-AF65-F5344CB8AC3E}">
        <p14:creationId xmlns:p14="http://schemas.microsoft.com/office/powerpoint/2010/main" val="253742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the topic and purpose: </a:t>
            </a:r>
            <a:r>
              <a:rPr lang="en-US" dirty="0"/>
              <a:t>A</a:t>
            </a:r>
            <a:r>
              <a:rPr dirty="0"/>
              <a:t>rgue that AI should be used in higher education, but only with clear ethical guidelines and transparency.</a:t>
            </a:r>
          </a:p>
          <a:p>
            <a:r>
              <a:rPr dirty="0"/>
              <a:t>Preview the structure: background → position/thesis → three proof points → ethical safeguards → counterargument and refutation → conclusion.</a:t>
            </a:r>
          </a:p>
          <a:p>
            <a:r>
              <a:rPr dirty="0"/>
              <a:t>Note: Any AI assistance used to draft wording or organize slides is cited on the References slide in alignment with the APUS Generative AI policy (American Public University System, 2024).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Generative AI and other AI-enabled systems are now common in campus life</a:t>
            </a:r>
            <a:r>
              <a:rPr lang="en-US" dirty="0"/>
              <a:t>. S</a:t>
            </a:r>
            <a:r>
              <a:rPr dirty="0"/>
              <a:t>tudents and faculty are using them whether institutions plan for it or not.</a:t>
            </a:r>
          </a:p>
          <a:p>
            <a:r>
              <a:rPr lang="en-US" dirty="0"/>
              <a:t>P</a:t>
            </a:r>
            <a:r>
              <a:rPr dirty="0"/>
              <a:t>roblem: </a:t>
            </a:r>
            <a:r>
              <a:rPr lang="en-US" dirty="0"/>
              <a:t>W</a:t>
            </a:r>
            <a:r>
              <a:rPr dirty="0"/>
              <a:t>ithout guardrails, AI can amplify inequity (bias), compromise privacy, and create confusion about academic integrity.</a:t>
            </a:r>
          </a:p>
          <a:p>
            <a:r>
              <a:rPr lang="en-US" dirty="0"/>
              <a:t>Rejecting</a:t>
            </a:r>
            <a:r>
              <a:rPr dirty="0"/>
              <a:t> AI entirely is unrealistic; the practical issue is building policies and practices that maximize learning benefits while minimizing harm.</a:t>
            </a:r>
          </a:p>
          <a:p>
            <a:r>
              <a:rPr dirty="0"/>
              <a:t>Citations support that AI is rapidly affecting education and that guidance documents emphasize both opportunities and risks (UNESCO, 2023; EDUCAUSE, 2023).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State </a:t>
            </a:r>
            <a:r>
              <a:rPr lang="en-US" dirty="0"/>
              <a:t>the thesis</a:t>
            </a:r>
            <a:r>
              <a:rPr dirty="0"/>
              <a:t> clearly so the audience knows exactly what </a:t>
            </a:r>
            <a:r>
              <a:rPr lang="en-US" dirty="0"/>
              <a:t>the argument is</a:t>
            </a:r>
            <a:r>
              <a:rPr dirty="0"/>
              <a:t>.</a:t>
            </a:r>
          </a:p>
          <a:p>
            <a:r>
              <a:rPr dirty="0"/>
              <a:t>Emphasize both/and:</a:t>
            </a:r>
            <a:r>
              <a:rPr lang="en-US" dirty="0"/>
              <a:t> </a:t>
            </a:r>
            <a:r>
              <a:rPr dirty="0"/>
              <a:t>AI adoption </a:t>
            </a:r>
            <a:r>
              <a:rPr lang="en-US" dirty="0"/>
              <a:t>with </a:t>
            </a:r>
            <a:r>
              <a:rPr dirty="0"/>
              <a:t>responsible controls.</a:t>
            </a:r>
          </a:p>
          <a:p>
            <a:r>
              <a:rPr dirty="0"/>
              <a:t>Explain what </a:t>
            </a:r>
            <a:r>
              <a:rPr lang="en-US" dirty="0"/>
              <a:t>the responsible-use</a:t>
            </a:r>
            <a:r>
              <a:rPr dirty="0"/>
              <a:t> model means in th</a:t>
            </a:r>
            <a:r>
              <a:rPr lang="en-US" dirty="0"/>
              <a:t>e</a:t>
            </a:r>
            <a:r>
              <a:rPr dirty="0"/>
              <a:t> presentation: clear rules for use, transparency when AI assists work, privacy protections, bias awareness, and accessibility.</a:t>
            </a:r>
          </a:p>
          <a:p>
            <a:r>
              <a:rPr dirty="0"/>
              <a:t>Connect to institutional expectations: APUS policy requires transparent citation/attribution of AI-generated wording or ideas (American Public University System, 2024), and UNESCO outlines ethical guidance for education and research (UNESCO, 2023).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why accessibility is a core benefit: AI can reduce barriers to participation, especially for students who rely on assistive technology or who are multilingual.</a:t>
            </a:r>
          </a:p>
          <a:p>
            <a:r>
              <a:rPr dirty="0"/>
              <a:t>Give examples: automatic captions help Deaf/Hard-of-Hearing students; text-to-speech helps students with print disabilities; translation can support English-language learners.</a:t>
            </a:r>
          </a:p>
          <a:p>
            <a:r>
              <a:rPr dirty="0"/>
              <a:t>Tie to standards: WCAG 2.2 provides widely used accessibility guidelines for digital content. Institutions should evaluate AI tools against these standards to avoid excluding users (W3C, 2023).</a:t>
            </a:r>
          </a:p>
          <a:p>
            <a:r>
              <a:rPr dirty="0"/>
              <a:t>Connect to ethics: UNESCO stresses that equity and inclusion should guide AI adoption; accessibility is one practical way to operationalize that principle (UNESCO, 2023).</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Clarify the role: </a:t>
            </a:r>
            <a:r>
              <a:rPr lang="en-US" dirty="0"/>
              <a:t>T</a:t>
            </a:r>
            <a:r>
              <a:rPr dirty="0"/>
              <a:t>he strongest case is AI as an assistant</a:t>
            </a:r>
            <a:r>
              <a:rPr lang="en-US" dirty="0"/>
              <a:t>, </a:t>
            </a:r>
            <a:r>
              <a:rPr dirty="0"/>
              <a:t>helping with repetitive feedback and practice</a:t>
            </a:r>
            <a:r>
              <a:rPr lang="en-US" dirty="0"/>
              <a:t>, </a:t>
            </a:r>
            <a:r>
              <a:rPr dirty="0"/>
              <a:t>while faculty focus on what humans do best (context, ethics, nuance, mentorship.</a:t>
            </a:r>
          </a:p>
          <a:p>
            <a:r>
              <a:rPr dirty="0"/>
              <a:t>Example: AI can generate practice quizzes or explain a concept in multiple ways; faculty still verify accuracy and align to course outcomes.</a:t>
            </a:r>
          </a:p>
          <a:p>
            <a:r>
              <a:rPr dirty="0"/>
              <a:t>Important caution: AI can be wrong or overly confident. Students must be taught to verify sources and treat outputs as drafts or suggestions.</a:t>
            </a:r>
          </a:p>
          <a:p>
            <a:r>
              <a:rPr dirty="0"/>
              <a:t>EDUCAUSE highlights practical realities and limitations of generative AI in education, reinforcing the need for human oversight (EDUCAUSE, 2023). UNESCO similarly emphasizes responsible integration (UNESCO, 2023).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answers: 'What kinds of ethical guidelines?' and 'What is misuse vs. responsible use?’</a:t>
            </a:r>
          </a:p>
          <a:p>
            <a:r>
              <a:rPr lang="en-US" dirty="0"/>
              <a:t>I sta</a:t>
            </a:r>
            <a:r>
              <a:rPr dirty="0"/>
              <a:t>rt with policy: APUS requires transparent attribution/citation of AI-generated wording or ideas and holds students responsible for accuracy and originality (American Public University System, 2024).</a:t>
            </a:r>
          </a:p>
          <a:p>
            <a:r>
              <a:rPr dirty="0"/>
              <a:t>Misuse examples: </a:t>
            </a:r>
            <a:r>
              <a:rPr lang="en-US" dirty="0"/>
              <a:t>S</a:t>
            </a:r>
            <a:r>
              <a:rPr dirty="0"/>
              <a:t>ubmitting AI text as if it were original work; using AI to bypass learning objectives; feeding private student data into tools without permission.</a:t>
            </a:r>
          </a:p>
          <a:p>
            <a:r>
              <a:rPr dirty="0"/>
              <a:t>Responsible use examples: </a:t>
            </a:r>
            <a:r>
              <a:rPr lang="en-US" dirty="0"/>
              <a:t>U</a:t>
            </a:r>
            <a:r>
              <a:rPr dirty="0"/>
              <a:t>sing AI for brainstorming, grammar, practice questions, or outlining</a:t>
            </a:r>
            <a:r>
              <a:rPr lang="en-US" dirty="0"/>
              <a:t>, </a:t>
            </a:r>
            <a:r>
              <a:rPr dirty="0"/>
              <a:t>then verifying facts, citing use, and ensuring the final work reflects the student’s own learning.</a:t>
            </a:r>
          </a:p>
          <a:p>
            <a:r>
              <a:rPr dirty="0"/>
              <a:t>Governance: </a:t>
            </a:r>
            <a:r>
              <a:rPr lang="en-US" dirty="0"/>
              <a:t>I</a:t>
            </a:r>
            <a:r>
              <a:rPr dirty="0"/>
              <a:t>nstitutions need data rules (what can be uploaded, retention, vendor contracts), plus bias monitoring.</a:t>
            </a:r>
          </a:p>
          <a:p>
            <a:r>
              <a:rPr dirty="0"/>
              <a:t>WHO’s ethics and governance framework for AI illustrates why oversight matters, especially when AI influences decisions affecting people’s wellbeing (World Health Organization, 2022).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Present the opposition fairly: many worry AI makes it easier to outsource thinking and submit work that isn’t the student’s.</a:t>
            </a:r>
          </a:p>
          <a:p>
            <a:r>
              <a:rPr dirty="0"/>
              <a:t>Acknowledge: this is a legitimate concern</a:t>
            </a:r>
            <a:r>
              <a:rPr lang="en-US" dirty="0"/>
              <a:t>, </a:t>
            </a:r>
            <a:r>
              <a:rPr dirty="0"/>
              <a:t>ignoring it would weaken credibility.</a:t>
            </a:r>
          </a:p>
          <a:p>
            <a:r>
              <a:rPr dirty="0"/>
              <a:t>Refute by showing mitigation: the presence of risk does not mean we must reject the tool; it means we must redesign instruction and policy.</a:t>
            </a:r>
          </a:p>
          <a:p>
            <a:r>
              <a:rPr lang="en-US" dirty="0"/>
              <a:t>C</a:t>
            </a:r>
            <a:r>
              <a:rPr dirty="0"/>
              <a:t>oncrete strategies: require drafts and annotated bibliographies, incorporate in-class writing, include short oral explanations, and ask students to document how they used AI.</a:t>
            </a:r>
          </a:p>
          <a:p>
            <a:r>
              <a:rPr lang="en-US" dirty="0"/>
              <a:t>Tied directly to policy: APUS requires citation/attribution for AI-generated content and can request disclosure of the</a:t>
            </a:r>
            <a:r>
              <a:rPr dirty="0"/>
              <a:t> extent of AI use (American Public University System, 2024).</a:t>
            </a:r>
          </a:p>
          <a:p>
            <a:r>
              <a:rPr dirty="0"/>
              <a:t>Support with guidance: UNESCO and EDUCAUSE discuss balancing learning benefits with integrity protections (UNESCO, 2023; EDUCAUSE, 2023).</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the audience through the map:</a:t>
            </a:r>
          </a:p>
          <a:p>
            <a:r>
              <a:rPr dirty="0"/>
              <a:t>1) Thesis at the top: adopt AI in higher education with ethical guidelines.</a:t>
            </a:r>
          </a:p>
          <a:p>
            <a:r>
              <a:rPr dirty="0"/>
              <a:t>2) Three main supports: personalization (adaptive systems), accessibility, and supplemental academic support.</a:t>
            </a:r>
          </a:p>
          <a:p>
            <a:r>
              <a:rPr dirty="0"/>
              <a:t>3) Guardrails slide shows what must exist for adoption to be responsible: policy, privacy, bias checks, and transparency.</a:t>
            </a:r>
          </a:p>
          <a:p>
            <a:r>
              <a:rPr dirty="0"/>
              <a:t>4) Counterargument connects directly to refutation: cheating/critical thinking concerns are addressed with AI literacy </a:t>
            </a:r>
            <a:r>
              <a:rPr lang="en-US" dirty="0"/>
              <a:t>plus </a:t>
            </a:r>
            <a:r>
              <a:rPr dirty="0"/>
              <a:t>assessment design </a:t>
            </a:r>
            <a:r>
              <a:rPr lang="en-US" dirty="0"/>
              <a:t>plus</a:t>
            </a:r>
            <a:r>
              <a:rPr dirty="0"/>
              <a:t> disclosure requirements.</a:t>
            </a:r>
          </a:p>
          <a:p>
            <a:endParaRPr lang="en-US" dirty="0"/>
          </a:p>
          <a:p>
            <a:r>
              <a:rPr lang="en-US" dirty="0"/>
              <a:t>T</a:t>
            </a:r>
            <a:r>
              <a:rPr dirty="0"/>
              <a:t>his slide </a:t>
            </a:r>
            <a:r>
              <a:rPr lang="en-US" dirty="0"/>
              <a:t>keeps</a:t>
            </a:r>
            <a:r>
              <a:rPr dirty="0"/>
              <a:t> the presentation cohesive and to show that the conclusion follows logically from the premises.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summarizes the argument presented throughout the presentation. Responsible and ethical use of AI can enhance teaching, learning, and accessibility in higher education. Rather than banning AI due to potential risks, institutions should emphasize ethical frameworks, transparency, and accountability. Ethical AI use preserves academic integrity while allowing innovation. Finally, ongoing evaluation using strong critical thinking standards ensures that AI remains a supportive tool rather than a substitute for human judgment.</a:t>
            </a:r>
            <a:endParaRPr lang="en-US" dirty="0"/>
          </a:p>
        </p:txBody>
      </p:sp>
      <p:sp>
        <p:nvSpPr>
          <p:cNvPr id="4" name="Slide Number Placeholder 3"/>
          <p:cNvSpPr>
            <a:spLocks noGrp="1"/>
          </p:cNvSpPr>
          <p:nvPr>
            <p:ph type="sldNum" sz="quarter" idx="5"/>
          </p:nvPr>
        </p:nvSpPr>
        <p:spPr/>
        <p:txBody>
          <a:bodyPr/>
          <a:lstStyle/>
          <a:p>
            <a:fld id="{31228778-868B-1349-BF9C-39B56471A6A8}" type="slidenum">
              <a:rPr lang="en-US" smtClean="0"/>
              <a:t>9</a:t>
            </a:fld>
            <a:endParaRPr lang="en-US"/>
          </a:p>
        </p:txBody>
      </p:sp>
    </p:spTree>
    <p:extLst>
      <p:ext uri="{BB962C8B-B14F-4D97-AF65-F5344CB8AC3E}">
        <p14:creationId xmlns:p14="http://schemas.microsoft.com/office/powerpoint/2010/main" val="262657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sources are traceable </a:t>
            </a:r>
            <a:r>
              <a:rPr lang="en-US" dirty="0"/>
              <a:t>(with working URLs/DOIs) and</a:t>
            </a:r>
            <a:r>
              <a:rPr dirty="0"/>
              <a:t> cited in the slides/notes where used.</a:t>
            </a:r>
          </a:p>
          <a:p>
            <a:r>
              <a:rPr dirty="0"/>
              <a:t>AI-use transparency: </a:t>
            </a:r>
            <a:r>
              <a:rPr lang="en-US" dirty="0"/>
              <a:t>CoPilot</a:t>
            </a:r>
            <a:r>
              <a:rPr dirty="0"/>
              <a:t> was used t</a:t>
            </a:r>
            <a:r>
              <a:rPr lang="en-US" dirty="0"/>
              <a:t>o help create a visual diagram on slide 9 and source research.</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DC1A7-6516-F97F-E390-E0D05B4FB0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041E04-BF23-0C63-7EB4-B332372E0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1C28F9-565B-AFDF-A4E9-76CA79A39013}"/>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E73A8FB2-D000-E508-0944-85BBD7CA5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EFCBB-1A7C-05F8-D765-751D31C7D901}"/>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3730018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D7410-8B5E-E702-1330-5499BD8D29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526F96-99AE-7329-A738-05998E052D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488F1D-4B66-9469-3B77-05DE2DEFAA85}"/>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41D54371-0520-2B18-E416-0578420D4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37077-A4FA-08B4-4B69-A1D5C49DE592}"/>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1217366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AD01-C539-FCD9-898D-DFD33B3036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5CAC5B-CF67-4A1B-2CD2-7D65F48B88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9006D8-CE67-03D4-032B-B0A1E2FFC16F}"/>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90AC56A2-0BEF-A305-E88E-662673B8C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8CF25-1B62-CAFF-1E0F-6D8988514B63}"/>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892554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E9FE6-8D59-1106-6B74-FB0F0AC8A9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6152C3-361D-F54B-1427-62DBF8618E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D65CB9-9A20-0E17-656A-6C9FBD0F04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7A0049-4635-FE14-2A1D-744727E01A55}"/>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6" name="Footer Placeholder 5">
            <a:extLst>
              <a:ext uri="{FF2B5EF4-FFF2-40B4-BE49-F238E27FC236}">
                <a16:creationId xmlns:a16="http://schemas.microsoft.com/office/drawing/2014/main" id="{667769AB-965D-2A48-8FC1-8CE2774354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562133-A957-D796-F8F1-26B74AB44E6B}"/>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2331111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6197-A0AF-28C5-FEE7-DDC91D5D24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571501-EDE7-B82E-5212-C1C3E56412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446B7C-0150-A8C6-E1A5-D6BAAD18F1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9B6940-20A9-ACBD-19C0-BF92774BD5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0D1E20-6540-B58E-DDA8-F905D8FB4B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3412B-E6BE-52CE-4036-5D26A4A19C6E}"/>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8" name="Footer Placeholder 7">
            <a:extLst>
              <a:ext uri="{FF2B5EF4-FFF2-40B4-BE49-F238E27FC236}">
                <a16:creationId xmlns:a16="http://schemas.microsoft.com/office/drawing/2014/main" id="{1085013E-0B06-59A7-2965-A93D7B7E27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7F3DF2-A813-18EC-044D-EF2536DF9567}"/>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634369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1DA08-6830-55CA-5710-94EB0C4A90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EF93E3-4641-EF60-798B-70F08205B5FA}"/>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4" name="Footer Placeholder 3">
            <a:extLst>
              <a:ext uri="{FF2B5EF4-FFF2-40B4-BE49-F238E27FC236}">
                <a16:creationId xmlns:a16="http://schemas.microsoft.com/office/drawing/2014/main" id="{EFC9AFC9-F026-6B9C-71FC-A4E7B5D790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C79FEE-2220-EE86-D7CF-D80878BE2C06}"/>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75815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2F9B3-F366-1646-4049-E304B41AA9F0}"/>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3" name="Footer Placeholder 2">
            <a:extLst>
              <a:ext uri="{FF2B5EF4-FFF2-40B4-BE49-F238E27FC236}">
                <a16:creationId xmlns:a16="http://schemas.microsoft.com/office/drawing/2014/main" id="{C602D4C6-47A3-0A7E-179F-813DA957F4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2FD3FF-EFDA-4763-3540-61708669FC94}"/>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1623874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5D6EB-66AF-2BC5-4EC1-5F00DFC094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DEBF81-1AE2-985C-5090-16AB6529F0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1B196-CD70-5704-8E1B-32BBA17D26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DE746F-B62B-4A2E-F760-FA6A57ECD231}"/>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6" name="Footer Placeholder 5">
            <a:extLst>
              <a:ext uri="{FF2B5EF4-FFF2-40B4-BE49-F238E27FC236}">
                <a16:creationId xmlns:a16="http://schemas.microsoft.com/office/drawing/2014/main" id="{5AD2D358-32C9-6811-1996-F489DB5B9B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855FC0-459F-BCA8-54CB-8D8D726D3B69}"/>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685620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47AA5-1191-5B2D-912B-5FAE3EFEC6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BC9BC2-DD75-5F5A-AFD4-7B8D64BC1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8382B3-3E5F-B67F-A2FD-26FFD748C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C1C894-EEC9-BC5C-8C00-1FB5E6EAEF99}"/>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6" name="Footer Placeholder 5">
            <a:extLst>
              <a:ext uri="{FF2B5EF4-FFF2-40B4-BE49-F238E27FC236}">
                <a16:creationId xmlns:a16="http://schemas.microsoft.com/office/drawing/2014/main" id="{F159D1CE-73C1-9666-8013-DA67A880DD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E3BB58-A323-B023-B41B-CD717A609823}"/>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827442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2F9E8-C065-C417-3784-0D8F977B54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B424AA-E01B-2CA5-2F32-533B114CFA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0475CB-9891-4478-1B9D-00674306D23A}"/>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7210FAE5-27F5-51ED-D7E8-B9054D7475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8AE06-B982-B65E-63AA-97B1C135844A}"/>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3617680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52AA27-1D57-4DCB-E0F8-87861BE26D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70DBDC-D98B-55BF-2961-2F9938F427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E904A-3272-E643-1751-FDD237286D43}"/>
              </a:ext>
            </a:extLst>
          </p:cNvPr>
          <p:cNvSpPr>
            <a:spLocks noGrp="1"/>
          </p:cNvSpPr>
          <p:nvPr>
            <p:ph type="dt" sz="half" idx="10"/>
          </p:nvPr>
        </p:nvSpPr>
        <p:spPr/>
        <p:txBody>
          <a:body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FA70BAA1-AEB6-2736-3235-A38CC59BE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1A3CA-E84E-ED80-303F-E934950928BF}"/>
              </a:ext>
            </a:extLst>
          </p:cNvPr>
          <p:cNvSpPr>
            <a:spLocks noGrp="1"/>
          </p:cNvSpPr>
          <p:nvPr>
            <p:ph type="sldNum" sz="quarter" idx="12"/>
          </p:nvPr>
        </p:nvSpPr>
        <p:spPr/>
        <p:txBody>
          <a:bodyPr/>
          <a:lstStyle/>
          <a:p>
            <a:fld id="{C0324C3B-7730-E64F-B7AC-970053D75809}" type="slidenum">
              <a:rPr lang="en-US" smtClean="0"/>
              <a:t>‹#›</a:t>
            </a:fld>
            <a:endParaRPr lang="en-US"/>
          </a:p>
        </p:txBody>
      </p:sp>
    </p:spTree>
    <p:extLst>
      <p:ext uri="{BB962C8B-B14F-4D97-AF65-F5344CB8AC3E}">
        <p14:creationId xmlns:p14="http://schemas.microsoft.com/office/powerpoint/2010/main" val="3369385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39FB4-30A0-3E79-C777-327BA3A7A5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22D0E1-A298-F858-7D33-9ACF4FA054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26F408-8967-DA2A-FFF4-F99391E0FB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251415-BC2D-0C4C-BC46-813763465B79}" type="datetimeFigureOut">
              <a:rPr lang="en-US" smtClean="0"/>
              <a:t>1/13/26</a:t>
            </a:fld>
            <a:endParaRPr lang="en-US"/>
          </a:p>
        </p:txBody>
      </p:sp>
      <p:sp>
        <p:nvSpPr>
          <p:cNvPr id="5" name="Footer Placeholder 4">
            <a:extLst>
              <a:ext uri="{FF2B5EF4-FFF2-40B4-BE49-F238E27FC236}">
                <a16:creationId xmlns:a16="http://schemas.microsoft.com/office/drawing/2014/main" id="{706C4EB4-33AF-64CC-E02C-B02A20DA3F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D04919-623A-C823-4ACB-149A4DAD57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24C3B-7730-E64F-B7AC-970053D75809}" type="slidenum">
              <a:rPr lang="en-US" smtClean="0"/>
              <a:t>‹#›</a:t>
            </a:fld>
            <a:endParaRPr lang="en-US"/>
          </a:p>
        </p:txBody>
      </p:sp>
    </p:spTree>
    <p:extLst>
      <p:ext uri="{BB962C8B-B14F-4D97-AF65-F5344CB8AC3E}">
        <p14:creationId xmlns:p14="http://schemas.microsoft.com/office/powerpoint/2010/main" val="45935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99609" y="679731"/>
            <a:ext cx="4171994" cy="3736540"/>
          </a:xfrm>
        </p:spPr>
        <p:txBody>
          <a:bodyPr>
            <a:normAutofit/>
          </a:bodyPr>
          <a:lstStyle/>
          <a:p>
            <a:pPr algn="l"/>
            <a:r>
              <a:rPr lang="en-US"/>
              <a:t>Ethical Use of AI in Higher Education</a:t>
            </a:r>
          </a:p>
        </p:txBody>
      </p:sp>
      <p:sp>
        <p:nvSpPr>
          <p:cNvPr id="3" name="Subtitle 2"/>
          <p:cNvSpPr>
            <a:spLocks noGrp="1"/>
          </p:cNvSpPr>
          <p:nvPr>
            <p:ph type="subTitle" idx="1"/>
          </p:nvPr>
        </p:nvSpPr>
        <p:spPr>
          <a:xfrm>
            <a:off x="599609" y="4685288"/>
            <a:ext cx="4171994" cy="1035781"/>
          </a:xfrm>
        </p:spPr>
        <p:txBody>
          <a:bodyPr>
            <a:normAutofit/>
          </a:bodyPr>
          <a:lstStyle/>
          <a:p>
            <a:pPr algn="l"/>
            <a:r>
              <a:rPr lang="en-US" sz="2200"/>
              <a:t>Classical Argument Presentation</a:t>
            </a:r>
          </a:p>
          <a:p>
            <a:pPr algn="l"/>
            <a:r>
              <a:rPr lang="en-US" sz="2200"/>
              <a:t> Jonathan Williams</a:t>
            </a:r>
          </a:p>
        </p:txBody>
      </p:sp>
      <p:grpSp>
        <p:nvGrpSpPr>
          <p:cNvPr id="72" name="Group 71">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67" name="Straight Connector 6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Head with Gears">
            <a:extLst>
              <a:ext uri="{FF2B5EF4-FFF2-40B4-BE49-F238E27FC236}">
                <a16:creationId xmlns:a16="http://schemas.microsoft.com/office/drawing/2014/main" id="{5B464A54-B6F5-FE75-9192-A003F26D5D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40572" y="569297"/>
            <a:ext cx="5608830" cy="56088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10" presetClass="entr" presetSubtype="0" fill="hold" nodeType="withEffect">
                                  <p:stCondLst>
                                    <p:cond delay="500"/>
                                  </p:stCondLst>
                                  <p:iterate>
                                    <p:tmPct val="10000"/>
                                  </p:iterate>
                                  <p:childTnLst>
                                    <p:set>
                                      <p:cBhvr>
                                        <p:cTn id="17" dur="1" fill="hold">
                                          <p:stCondLst>
                                            <p:cond delay="0"/>
                                          </p:stCondLst>
                                        </p:cTn>
                                        <p:tgtEl>
                                          <p:spTgt spid="32"/>
                                        </p:tgtEl>
                                        <p:attrNameLst>
                                          <p:attrName>style.visibility</p:attrName>
                                        </p:attrNameLst>
                                      </p:cBhvr>
                                      <p:to>
                                        <p:strVal val="visible"/>
                                      </p:to>
                                    </p:set>
                                    <p:animEffect transition="in" filter="fade">
                                      <p:cBhvr>
                                        <p:cTn id="18" dur="7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Statement of Background: Why this matters</a:t>
            </a:r>
          </a:p>
        </p:txBody>
      </p:sp>
      <p:graphicFrame>
        <p:nvGraphicFramePr>
          <p:cNvPr id="6" name="Content Placeholder 2">
            <a:extLst>
              <a:ext uri="{FF2B5EF4-FFF2-40B4-BE49-F238E27FC236}">
                <a16:creationId xmlns:a16="http://schemas.microsoft.com/office/drawing/2014/main" id="{D43AF877-0551-76B0-CB3A-4705D05FEFB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981200" y="6309361"/>
            <a:ext cx="2137124" cy="246221"/>
          </a:xfrm>
          <a:prstGeom prst="rect">
            <a:avLst/>
          </a:prstGeom>
          <a:noFill/>
        </p:spPr>
        <p:txBody>
          <a:bodyPr wrap="none">
            <a:spAutoFit/>
          </a:bodyPr>
          <a:lstStyle/>
          <a:p>
            <a:pPr algn="l">
              <a:defRPr sz="1000"/>
            </a:pPr>
            <a:r>
              <a:rPr sz="1000"/>
              <a:t>(UNESCO, 2023; EDUCAUSE, 2023)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Position</a:t>
            </a:r>
          </a:p>
        </p:txBody>
      </p:sp>
      <p:graphicFrame>
        <p:nvGraphicFramePr>
          <p:cNvPr id="6" name="Content Placeholder 2">
            <a:extLst>
              <a:ext uri="{FF2B5EF4-FFF2-40B4-BE49-F238E27FC236}">
                <a16:creationId xmlns:a16="http://schemas.microsoft.com/office/drawing/2014/main" id="{18E741D6-75F7-312F-AC31-223BAA612362}"/>
              </a:ext>
            </a:extLst>
          </p:cNvPr>
          <p:cNvGraphicFramePr>
            <a:graphicFrameLocks noGrp="1"/>
          </p:cNvGraphicFramePr>
          <p:nvPr>
            <p:ph idx="1"/>
            <p:extLst>
              <p:ext uri="{D42A27DB-BD31-4B8C-83A1-F6EECF244321}">
                <p14:modId xmlns:p14="http://schemas.microsoft.com/office/powerpoint/2010/main" val="18833352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981200" y="6309361"/>
            <a:ext cx="3416320" cy="246221"/>
          </a:xfrm>
          <a:prstGeom prst="rect">
            <a:avLst/>
          </a:prstGeom>
          <a:noFill/>
        </p:spPr>
        <p:txBody>
          <a:bodyPr wrap="none">
            <a:spAutoFit/>
          </a:bodyPr>
          <a:lstStyle/>
          <a:p>
            <a:pPr algn="l">
              <a:defRPr sz="1000"/>
            </a:pPr>
            <a:r>
              <a:rPr lang="en-US" sz="1000"/>
              <a:t>(American Public University System, 2024; UNESCO, 2023)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Proof </a:t>
            </a:r>
            <a:r>
              <a:rPr lang="en-US" dirty="0"/>
              <a:t>1</a:t>
            </a:r>
            <a:r>
              <a:rPr dirty="0"/>
              <a:t>: Accessibility and inclusion</a:t>
            </a:r>
          </a:p>
        </p:txBody>
      </p:sp>
      <p:graphicFrame>
        <p:nvGraphicFramePr>
          <p:cNvPr id="6" name="Content Placeholder 2">
            <a:extLst>
              <a:ext uri="{FF2B5EF4-FFF2-40B4-BE49-F238E27FC236}">
                <a16:creationId xmlns:a16="http://schemas.microsoft.com/office/drawing/2014/main" id="{C9EF001E-4783-2341-2F49-1DAA4B5ABE1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981200" y="6309361"/>
            <a:ext cx="1770036" cy="246221"/>
          </a:xfrm>
          <a:prstGeom prst="rect">
            <a:avLst/>
          </a:prstGeom>
          <a:noFill/>
        </p:spPr>
        <p:txBody>
          <a:bodyPr wrap="none">
            <a:spAutoFit/>
          </a:bodyPr>
          <a:lstStyle/>
          <a:p>
            <a:pPr algn="l">
              <a:defRPr sz="1000"/>
            </a:pPr>
            <a:r>
              <a:rPr sz="1000"/>
              <a:t>(W3C, 2023; UNESCO,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Proof </a:t>
            </a:r>
            <a:r>
              <a:rPr lang="en-US" dirty="0"/>
              <a:t>2</a:t>
            </a:r>
            <a:r>
              <a:rPr dirty="0"/>
              <a:t>: AI as support</a:t>
            </a:r>
            <a:r>
              <a:rPr lang="en-US" dirty="0"/>
              <a:t>; </a:t>
            </a:r>
            <a:r>
              <a:rPr dirty="0"/>
              <a:t>not a replacement</a:t>
            </a:r>
          </a:p>
        </p:txBody>
      </p:sp>
      <p:graphicFrame>
        <p:nvGraphicFramePr>
          <p:cNvPr id="6" name="Content Placeholder 2">
            <a:extLst>
              <a:ext uri="{FF2B5EF4-FFF2-40B4-BE49-F238E27FC236}">
                <a16:creationId xmlns:a16="http://schemas.microsoft.com/office/drawing/2014/main" id="{0580003D-7097-4CF4-89D1-67979984B3C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981200" y="6309361"/>
            <a:ext cx="2137124" cy="246221"/>
          </a:xfrm>
          <a:prstGeom prst="rect">
            <a:avLst/>
          </a:prstGeom>
          <a:noFill/>
        </p:spPr>
        <p:txBody>
          <a:bodyPr wrap="none">
            <a:spAutoFit/>
          </a:bodyPr>
          <a:lstStyle/>
          <a:p>
            <a:pPr algn="l">
              <a:defRPr sz="1000"/>
            </a:pPr>
            <a:r>
              <a:rPr sz="1000"/>
              <a:t>(EDUCAUSE, 2023; UNESCO, 2023)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372" y="367664"/>
            <a:ext cx="11215255" cy="1325563"/>
          </a:xfrm>
        </p:spPr>
        <p:txBody>
          <a:bodyPr/>
          <a:lstStyle/>
          <a:p>
            <a:pPr algn="ctr"/>
            <a:r>
              <a:rPr lang="en-US"/>
              <a:t>Proof 3: Ethical guardrails make adoption safer</a:t>
            </a:r>
            <a:endParaRPr lang="en-US" dirty="0"/>
          </a:p>
        </p:txBody>
      </p:sp>
      <p:graphicFrame>
        <p:nvGraphicFramePr>
          <p:cNvPr id="8" name="Content Placeholder 2">
            <a:extLst>
              <a:ext uri="{FF2B5EF4-FFF2-40B4-BE49-F238E27FC236}">
                <a16:creationId xmlns:a16="http://schemas.microsoft.com/office/drawing/2014/main" id="{205DA825-89CB-B38D-35B4-F82857C1E8D0}"/>
              </a:ext>
            </a:extLst>
          </p:cNvPr>
          <p:cNvGraphicFramePr>
            <a:graphicFrameLocks noGrp="1"/>
          </p:cNvGraphicFramePr>
          <p:nvPr>
            <p:ph idx="1"/>
            <p:extLst>
              <p:ext uri="{D42A27DB-BD31-4B8C-83A1-F6EECF244321}">
                <p14:modId xmlns:p14="http://schemas.microsoft.com/office/powerpoint/2010/main" val="8456755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981201" y="6309361"/>
            <a:ext cx="5283819" cy="246221"/>
          </a:xfrm>
          <a:prstGeom prst="rect">
            <a:avLst/>
          </a:prstGeom>
          <a:noFill/>
        </p:spPr>
        <p:txBody>
          <a:bodyPr wrap="none">
            <a:spAutoFit/>
          </a:bodyPr>
          <a:lstStyle/>
          <a:p>
            <a:pPr algn="l">
              <a:defRPr sz="1000"/>
            </a:pPr>
            <a:r>
              <a:rPr lang="en-US" sz="1000"/>
              <a:t>(American Public University System, 2024; UNESCO, 2023; World Health Organization, 2022)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218" y="252276"/>
            <a:ext cx="11979563" cy="1325563"/>
          </a:xfrm>
        </p:spPr>
        <p:txBody>
          <a:bodyPr/>
          <a:lstStyle/>
          <a:p>
            <a:pPr algn="ctr"/>
            <a:r>
              <a:rPr lang="en-US" dirty="0"/>
              <a:t>Refutation: Strongest counterargument and response</a:t>
            </a:r>
          </a:p>
        </p:txBody>
      </p:sp>
      <p:graphicFrame>
        <p:nvGraphicFramePr>
          <p:cNvPr id="6" name="Content Placeholder 2">
            <a:extLst>
              <a:ext uri="{FF2B5EF4-FFF2-40B4-BE49-F238E27FC236}">
                <a16:creationId xmlns:a16="http://schemas.microsoft.com/office/drawing/2014/main" id="{216ACE7E-1946-3D8F-68D5-BB62BD6456E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983673" y="6369764"/>
            <a:ext cx="4455066" cy="246221"/>
          </a:xfrm>
          <a:prstGeom prst="rect">
            <a:avLst/>
          </a:prstGeom>
          <a:noFill/>
        </p:spPr>
        <p:txBody>
          <a:bodyPr wrap="none">
            <a:spAutoFit/>
          </a:bodyPr>
          <a:lstStyle/>
          <a:p>
            <a:pPr algn="l">
              <a:defRPr sz="1000"/>
            </a:pPr>
            <a:r>
              <a:rPr lang="en-US" sz="1000" dirty="0"/>
              <a:t>(American Public University System, 2024; UNESCO, 2023; EDUCAUSE,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_flowchart_in_the_form_of_a_digital_diagram_visua.png"/>
          <p:cNvPicPr>
            <a:picLocks noChangeAspect="1"/>
          </p:cNvPicPr>
          <p:nvPr/>
        </p:nvPicPr>
        <p:blipFill>
          <a:blip r:embed="rId3"/>
          <a:stretch>
            <a:fillRect/>
          </a:stretch>
        </p:blipFill>
        <p:spPr>
          <a:xfrm>
            <a:off x="1721014" y="812886"/>
            <a:ext cx="7848340" cy="5232227"/>
          </a:xfrm>
          <a:prstGeom prst="rect">
            <a:avLst/>
          </a:prstGeom>
        </p:spPr>
      </p:pic>
      <p:sp>
        <p:nvSpPr>
          <p:cNvPr id="5" name="TextBox 4">
            <a:extLst>
              <a:ext uri="{FF2B5EF4-FFF2-40B4-BE49-F238E27FC236}">
                <a16:creationId xmlns:a16="http://schemas.microsoft.com/office/drawing/2014/main" id="{A58E38D3-48A0-5F1F-0766-101645EAE380}"/>
              </a:ext>
            </a:extLst>
          </p:cNvPr>
          <p:cNvSpPr txBox="1"/>
          <p:nvPr/>
        </p:nvSpPr>
        <p:spPr>
          <a:xfrm>
            <a:off x="2826271" y="228111"/>
            <a:ext cx="5637825" cy="584775"/>
          </a:xfrm>
          <a:prstGeom prst="rect">
            <a:avLst/>
          </a:prstGeom>
          <a:noFill/>
        </p:spPr>
        <p:txBody>
          <a:bodyPr wrap="none">
            <a:spAutoFit/>
          </a:bodyPr>
          <a:lstStyle/>
          <a:p>
            <a:pPr>
              <a:defRPr sz="3200"/>
            </a:pPr>
            <a:r>
              <a:rPr sz="3200" dirty="0"/>
              <a:t>How the argument fits together</a:t>
            </a:r>
          </a:p>
        </p:txBody>
      </p:sp>
      <p:sp>
        <p:nvSpPr>
          <p:cNvPr id="6" name="TextBox 5">
            <a:extLst>
              <a:ext uri="{FF2B5EF4-FFF2-40B4-BE49-F238E27FC236}">
                <a16:creationId xmlns:a16="http://schemas.microsoft.com/office/drawing/2014/main" id="{31A46DBB-B717-8E3C-46DE-C4844F7E1DCB}"/>
              </a:ext>
            </a:extLst>
          </p:cNvPr>
          <p:cNvSpPr txBox="1"/>
          <p:nvPr/>
        </p:nvSpPr>
        <p:spPr>
          <a:xfrm>
            <a:off x="1981200" y="6309361"/>
            <a:ext cx="994183" cy="246221"/>
          </a:xfrm>
          <a:prstGeom prst="rect">
            <a:avLst/>
          </a:prstGeom>
          <a:noFill/>
        </p:spPr>
        <p:txBody>
          <a:bodyPr wrap="none">
            <a:spAutoFit/>
          </a:bodyPr>
          <a:lstStyle/>
          <a:p>
            <a:pPr algn="l">
              <a:defRPr sz="1000"/>
            </a:pPr>
            <a:r>
              <a:rPr sz="1000" dirty="0"/>
              <a:t>(</a:t>
            </a:r>
            <a:r>
              <a:rPr lang="en-US" sz="1000" dirty="0"/>
              <a:t>CoPilot 2026</a:t>
            </a:r>
            <a:r>
              <a:rPr sz="10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AF58-B88B-D7B7-EB89-367031BE6E0A}"/>
              </a:ext>
            </a:extLst>
          </p:cNvPr>
          <p:cNvSpPr>
            <a:spLocks noGrp="1"/>
          </p:cNvSpPr>
          <p:nvPr>
            <p:ph type="title"/>
          </p:nvPr>
        </p:nvSpPr>
        <p:spPr/>
        <p:txBody>
          <a:bodyPr/>
          <a:lstStyle/>
          <a:p>
            <a:pPr algn="ctr"/>
            <a:r>
              <a:rPr lang="en-US" dirty="0"/>
              <a:t>Conclusion: Responsible AI in Higher Education</a:t>
            </a:r>
          </a:p>
        </p:txBody>
      </p:sp>
      <p:graphicFrame>
        <p:nvGraphicFramePr>
          <p:cNvPr id="5" name="Content Placeholder 2">
            <a:extLst>
              <a:ext uri="{FF2B5EF4-FFF2-40B4-BE49-F238E27FC236}">
                <a16:creationId xmlns:a16="http://schemas.microsoft.com/office/drawing/2014/main" id="{1970A7A0-8821-0239-5194-E5AD65EEA63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9086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86AA2DA-281A-4806-8977-D617AEAC8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64185774-6FC0-4B8D-A8DB-A88546889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59988" y="0"/>
            <a:ext cx="2632012" cy="6858000"/>
          </a:xfrm>
          <a:custGeom>
            <a:avLst/>
            <a:gdLst>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57677 w 2632012"/>
              <a:gd name="connsiteY27" fmla="*/ 2548608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399465 w 2632012"/>
              <a:gd name="connsiteY28" fmla="*/ 2412506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46400 w 2632012"/>
              <a:gd name="connsiteY29" fmla="*/ 2252507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138134 w 2632012"/>
              <a:gd name="connsiteY24" fmla="*/ 5616065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183756 w 2632012"/>
              <a:gd name="connsiteY23" fmla="*/ 5808789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20409 w 2632012"/>
              <a:gd name="connsiteY22" fmla="*/ 6022287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 name="connsiteX0" fmla="*/ 932173 w 2632012"/>
              <a:gd name="connsiteY0" fmla="*/ 1512545 h 6858000"/>
              <a:gd name="connsiteX1" fmla="*/ 932462 w 2632012"/>
              <a:gd name="connsiteY1" fmla="*/ 1512581 h 6858000"/>
              <a:gd name="connsiteX2" fmla="*/ 932378 w 2632012"/>
              <a:gd name="connsiteY2" fmla="*/ 1512599 h 6858000"/>
              <a:gd name="connsiteX3" fmla="*/ 932173 w 2632012"/>
              <a:gd name="connsiteY3" fmla="*/ 1512545 h 6858000"/>
              <a:gd name="connsiteX4" fmla="*/ 1207569 w 2632012"/>
              <a:gd name="connsiteY4" fmla="*/ 0 h 6858000"/>
              <a:gd name="connsiteX5" fmla="*/ 2632012 w 2632012"/>
              <a:gd name="connsiteY5" fmla="*/ 0 h 6858000"/>
              <a:gd name="connsiteX6" fmla="*/ 2632012 w 2632012"/>
              <a:gd name="connsiteY6" fmla="*/ 6858000 h 6858000"/>
              <a:gd name="connsiteX7" fmla="*/ 13514 w 2632012"/>
              <a:gd name="connsiteY7" fmla="*/ 6858000 h 6858000"/>
              <a:gd name="connsiteX8" fmla="*/ 13170 w 2632012"/>
              <a:gd name="connsiteY8" fmla="*/ 6812829 h 6858000"/>
              <a:gd name="connsiteX9" fmla="*/ 20332 w 2632012"/>
              <a:gd name="connsiteY9" fmla="*/ 6760689 h 6858000"/>
              <a:gd name="connsiteX10" fmla="*/ 25596 w 2632012"/>
              <a:gd name="connsiteY10" fmla="*/ 6721251 h 6858000"/>
              <a:gd name="connsiteX11" fmla="*/ 22507 w 2632012"/>
              <a:gd name="connsiteY11" fmla="*/ 6650499 h 6858000"/>
              <a:gd name="connsiteX12" fmla="*/ 22444 w 2632012"/>
              <a:gd name="connsiteY12" fmla="*/ 6604241 h 6858000"/>
              <a:gd name="connsiteX13" fmla="*/ 31867 w 2632012"/>
              <a:gd name="connsiteY13" fmla="*/ 6559984 h 6858000"/>
              <a:gd name="connsiteX14" fmla="*/ 38635 w 2632012"/>
              <a:gd name="connsiteY14" fmla="*/ 6515473 h 6858000"/>
              <a:gd name="connsiteX15" fmla="*/ 38467 w 2632012"/>
              <a:gd name="connsiteY15" fmla="*/ 6463736 h 6858000"/>
              <a:gd name="connsiteX16" fmla="*/ 38052 w 2632012"/>
              <a:gd name="connsiteY16" fmla="*/ 6432794 h 6858000"/>
              <a:gd name="connsiteX17" fmla="*/ 80445 w 2632012"/>
              <a:gd name="connsiteY17" fmla="*/ 6301309 h 6858000"/>
              <a:gd name="connsiteX18" fmla="*/ 138157 w 2632012"/>
              <a:gd name="connsiteY18" fmla="*/ 6257030 h 6858000"/>
              <a:gd name="connsiteX19" fmla="*/ 170419 w 2632012"/>
              <a:gd name="connsiteY19" fmla="*/ 6171255 h 6858000"/>
              <a:gd name="connsiteX20" fmla="*/ 164027 w 2632012"/>
              <a:gd name="connsiteY20" fmla="*/ 6164357 h 6858000"/>
              <a:gd name="connsiteX21" fmla="*/ 213309 w 2632012"/>
              <a:gd name="connsiteY21" fmla="*/ 6109331 h 6858000"/>
              <a:gd name="connsiteX22" fmla="*/ 208456 w 2632012"/>
              <a:gd name="connsiteY22" fmla="*/ 5878851 h 6858000"/>
              <a:gd name="connsiteX23" fmla="*/ 219615 w 2632012"/>
              <a:gd name="connsiteY23" fmla="*/ 5557777 h 6858000"/>
              <a:gd name="connsiteX24" fmla="*/ 245711 w 2632012"/>
              <a:gd name="connsiteY24" fmla="*/ 5066230 h 6858000"/>
              <a:gd name="connsiteX25" fmla="*/ 276721 w 2632012"/>
              <a:gd name="connsiteY25" fmla="*/ 4162848 h 6858000"/>
              <a:gd name="connsiteX26" fmla="*/ 343082 w 2632012"/>
              <a:gd name="connsiteY26" fmla="*/ 3059377 h 6858000"/>
              <a:gd name="connsiteX27" fmla="*/ 369630 w 2632012"/>
              <a:gd name="connsiteY27" fmla="*/ 2692043 h 6858000"/>
              <a:gd name="connsiteX28" fmla="*/ 435324 w 2632012"/>
              <a:gd name="connsiteY28" fmla="*/ 2520083 h 6858000"/>
              <a:gd name="connsiteX29" fmla="*/ 482259 w 2632012"/>
              <a:gd name="connsiteY29" fmla="*/ 2336178 h 6858000"/>
              <a:gd name="connsiteX30" fmla="*/ 569515 w 2632012"/>
              <a:gd name="connsiteY30" fmla="*/ 2091909 h 6858000"/>
              <a:gd name="connsiteX31" fmla="*/ 638163 w 2632012"/>
              <a:gd name="connsiteY31" fmla="*/ 1994147 h 6858000"/>
              <a:gd name="connsiteX32" fmla="*/ 737312 w 2632012"/>
              <a:gd name="connsiteY32" fmla="*/ 1871408 h 6858000"/>
              <a:gd name="connsiteX33" fmla="*/ 788501 w 2632012"/>
              <a:gd name="connsiteY33" fmla="*/ 1793826 h 6858000"/>
              <a:gd name="connsiteX34" fmla="*/ 819432 w 2632012"/>
              <a:gd name="connsiteY34" fmla="*/ 1746824 h 6858000"/>
              <a:gd name="connsiteX35" fmla="*/ 843936 w 2632012"/>
              <a:gd name="connsiteY35" fmla="*/ 1697348 h 6858000"/>
              <a:gd name="connsiteX36" fmla="*/ 846526 w 2632012"/>
              <a:gd name="connsiteY36" fmla="*/ 1659754 h 6858000"/>
              <a:gd name="connsiteX37" fmla="*/ 873830 w 2632012"/>
              <a:gd name="connsiteY37" fmla="*/ 1628041 h 6858000"/>
              <a:gd name="connsiteX38" fmla="*/ 890626 w 2632012"/>
              <a:gd name="connsiteY38" fmla="*/ 1599883 h 6858000"/>
              <a:gd name="connsiteX39" fmla="*/ 921288 w 2632012"/>
              <a:gd name="connsiteY39" fmla="*/ 1579569 h 6858000"/>
              <a:gd name="connsiteX40" fmla="*/ 920756 w 2632012"/>
              <a:gd name="connsiteY40" fmla="*/ 1537369 h 6858000"/>
              <a:gd name="connsiteX41" fmla="*/ 946290 w 2632012"/>
              <a:gd name="connsiteY41" fmla="*/ 1514308 h 6858000"/>
              <a:gd name="connsiteX42" fmla="*/ 932462 w 2632012"/>
              <a:gd name="connsiteY42" fmla="*/ 1512581 h 6858000"/>
              <a:gd name="connsiteX43" fmla="*/ 940652 w 2632012"/>
              <a:gd name="connsiteY43" fmla="*/ 1510839 h 6858000"/>
              <a:gd name="connsiteX44" fmla="*/ 950739 w 2632012"/>
              <a:gd name="connsiteY44" fmla="*/ 1503635 h 6858000"/>
              <a:gd name="connsiteX45" fmla="*/ 966405 w 2632012"/>
              <a:gd name="connsiteY45" fmla="*/ 1439967 h 6858000"/>
              <a:gd name="connsiteX46" fmla="*/ 973516 w 2632012"/>
              <a:gd name="connsiteY46" fmla="*/ 1389073 h 6858000"/>
              <a:gd name="connsiteX47" fmla="*/ 986960 w 2632012"/>
              <a:gd name="connsiteY47" fmla="*/ 1351857 h 6858000"/>
              <a:gd name="connsiteX48" fmla="*/ 987761 w 2632012"/>
              <a:gd name="connsiteY48" fmla="*/ 1363479 h 6858000"/>
              <a:gd name="connsiteX49" fmla="*/ 989043 w 2632012"/>
              <a:gd name="connsiteY49" fmla="*/ 1346093 h 6858000"/>
              <a:gd name="connsiteX50" fmla="*/ 986960 w 2632012"/>
              <a:gd name="connsiteY50" fmla="*/ 1351857 h 6858000"/>
              <a:gd name="connsiteX51" fmla="*/ 985769 w 2632012"/>
              <a:gd name="connsiteY51" fmla="*/ 1334556 h 6858000"/>
              <a:gd name="connsiteX52" fmla="*/ 982507 w 2632012"/>
              <a:gd name="connsiteY52" fmla="*/ 1216698 h 6858000"/>
              <a:gd name="connsiteX53" fmla="*/ 984836 w 2632012"/>
              <a:gd name="connsiteY53" fmla="*/ 1082381 h 6858000"/>
              <a:gd name="connsiteX54" fmla="*/ 993140 w 2632012"/>
              <a:gd name="connsiteY54" fmla="*/ 1043366 h 6858000"/>
              <a:gd name="connsiteX55" fmla="*/ 995544 w 2632012"/>
              <a:gd name="connsiteY55" fmla="*/ 972540 h 6858000"/>
              <a:gd name="connsiteX56" fmla="*/ 1028500 w 2632012"/>
              <a:gd name="connsiteY56" fmla="*/ 923945 h 6858000"/>
              <a:gd name="connsiteX57" fmla="*/ 1022082 w 2632012"/>
              <a:gd name="connsiteY57" fmla="*/ 838835 h 6858000"/>
              <a:gd name="connsiteX58" fmla="*/ 1025925 w 2632012"/>
              <a:gd name="connsiteY58" fmla="*/ 787183 h 6858000"/>
              <a:gd name="connsiteX59" fmla="*/ 1027904 w 2632012"/>
              <a:gd name="connsiteY59" fmla="*/ 756272 h 6858000"/>
              <a:gd name="connsiteX60" fmla="*/ 1088796 w 2632012"/>
              <a:gd name="connsiteY60" fmla="*/ 641639 h 6858000"/>
              <a:gd name="connsiteX61" fmla="*/ 1164389 w 2632012"/>
              <a:gd name="connsiteY61" fmla="*/ 545140 h 6858000"/>
              <a:gd name="connsiteX62" fmla="*/ 1225321 w 2632012"/>
              <a:gd name="connsiteY62" fmla="*/ 413843 h 6858000"/>
              <a:gd name="connsiteX63" fmla="*/ 1241477 w 2632012"/>
              <a:gd name="connsiteY63" fmla="*/ 358607 h 6858000"/>
              <a:gd name="connsiteX64" fmla="*/ 1246119 w 2632012"/>
              <a:gd name="connsiteY64" fmla="*/ 254866 h 6858000"/>
              <a:gd name="connsiteX65" fmla="*/ 1266837 w 2632012"/>
              <a:gd name="connsiteY65" fmla="*/ 161517 h 6858000"/>
              <a:gd name="connsiteX66" fmla="*/ 1315021 w 2632012"/>
              <a:gd name="connsiteY66" fmla="*/ 54455 h 6858000"/>
              <a:gd name="connsiteX67" fmla="*/ 1319335 w 2632012"/>
              <a:gd name="connsiteY67" fmla="*/ 8880 h 6858000"/>
              <a:gd name="connsiteX68" fmla="*/ 1316402 w 2632012"/>
              <a:gd name="connsiteY68" fmla="*/ 852 h 6858000"/>
              <a:gd name="connsiteX69" fmla="*/ 1207569 w 2632012"/>
              <a:gd name="connsiteY6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632012" h="6858000">
                <a:moveTo>
                  <a:pt x="932173" y="1512545"/>
                </a:moveTo>
                <a:lnTo>
                  <a:pt x="932462" y="1512581"/>
                </a:lnTo>
                <a:lnTo>
                  <a:pt x="932378" y="1512599"/>
                </a:lnTo>
                <a:cubicBezTo>
                  <a:pt x="930618" y="1512681"/>
                  <a:pt x="930202" y="1512462"/>
                  <a:pt x="932173" y="1512545"/>
                </a:cubicBezTo>
                <a:close/>
                <a:moveTo>
                  <a:pt x="1207569" y="0"/>
                </a:moveTo>
                <a:lnTo>
                  <a:pt x="2632012" y="0"/>
                </a:lnTo>
                <a:lnTo>
                  <a:pt x="2632012" y="6858000"/>
                </a:lnTo>
                <a:lnTo>
                  <a:pt x="13514" y="6858000"/>
                </a:lnTo>
                <a:cubicBezTo>
                  <a:pt x="13399" y="6842943"/>
                  <a:pt x="13285" y="6827886"/>
                  <a:pt x="13170" y="6812829"/>
                </a:cubicBezTo>
                <a:cubicBezTo>
                  <a:pt x="12714" y="6794763"/>
                  <a:pt x="13524" y="6777517"/>
                  <a:pt x="20332" y="6760689"/>
                </a:cubicBezTo>
                <a:cubicBezTo>
                  <a:pt x="10828" y="6746468"/>
                  <a:pt x="7794" y="6733277"/>
                  <a:pt x="25596" y="6721251"/>
                </a:cubicBezTo>
                <a:cubicBezTo>
                  <a:pt x="24143" y="6683539"/>
                  <a:pt x="1631" y="6673595"/>
                  <a:pt x="22507" y="6650499"/>
                </a:cubicBezTo>
                <a:cubicBezTo>
                  <a:pt x="-25124" y="6620536"/>
                  <a:pt x="16765" y="6629253"/>
                  <a:pt x="22444" y="6604241"/>
                </a:cubicBezTo>
                <a:cubicBezTo>
                  <a:pt x="28668" y="6588866"/>
                  <a:pt x="29169" y="6574778"/>
                  <a:pt x="31867" y="6559984"/>
                </a:cubicBezTo>
                <a:cubicBezTo>
                  <a:pt x="4443" y="6566661"/>
                  <a:pt x="62924" y="6515664"/>
                  <a:pt x="38635" y="6515473"/>
                </a:cubicBezTo>
                <a:cubicBezTo>
                  <a:pt x="72259" y="6495428"/>
                  <a:pt x="29118" y="6488543"/>
                  <a:pt x="38467" y="6463736"/>
                </a:cubicBezTo>
                <a:cubicBezTo>
                  <a:pt x="50944" y="6451623"/>
                  <a:pt x="52742" y="6443270"/>
                  <a:pt x="38052" y="6432794"/>
                </a:cubicBezTo>
                <a:cubicBezTo>
                  <a:pt x="98939" y="6376824"/>
                  <a:pt x="58603" y="6351821"/>
                  <a:pt x="80445" y="6301309"/>
                </a:cubicBezTo>
                <a:cubicBezTo>
                  <a:pt x="103917" y="6257537"/>
                  <a:pt x="78836" y="6301310"/>
                  <a:pt x="138157" y="6257030"/>
                </a:cubicBezTo>
                <a:cubicBezTo>
                  <a:pt x="155187" y="6248574"/>
                  <a:pt x="166108" y="6186701"/>
                  <a:pt x="170419" y="6171255"/>
                </a:cubicBezTo>
                <a:cubicBezTo>
                  <a:pt x="174731" y="6155809"/>
                  <a:pt x="166522" y="6166390"/>
                  <a:pt x="164027" y="6164357"/>
                </a:cubicBezTo>
                <a:cubicBezTo>
                  <a:pt x="206228" y="6137678"/>
                  <a:pt x="184454" y="6121750"/>
                  <a:pt x="213309" y="6109331"/>
                </a:cubicBezTo>
                <a:cubicBezTo>
                  <a:pt x="224262" y="6067371"/>
                  <a:pt x="183175" y="5890445"/>
                  <a:pt x="208456" y="5878851"/>
                </a:cubicBezTo>
                <a:cubicBezTo>
                  <a:pt x="225886" y="5808435"/>
                  <a:pt x="192379" y="5574013"/>
                  <a:pt x="219615" y="5557777"/>
                </a:cubicBezTo>
                <a:lnTo>
                  <a:pt x="245711" y="5066230"/>
                </a:lnTo>
                <a:cubicBezTo>
                  <a:pt x="117719" y="4582016"/>
                  <a:pt x="230524" y="4647254"/>
                  <a:pt x="276721" y="4162848"/>
                </a:cubicBezTo>
                <a:lnTo>
                  <a:pt x="343082" y="3059377"/>
                </a:lnTo>
                <a:cubicBezTo>
                  <a:pt x="347947" y="2889121"/>
                  <a:pt x="364765" y="2862299"/>
                  <a:pt x="369630" y="2692043"/>
                </a:cubicBezTo>
                <a:cubicBezTo>
                  <a:pt x="369393" y="2690043"/>
                  <a:pt x="435560" y="2522082"/>
                  <a:pt x="435324" y="2520083"/>
                </a:cubicBezTo>
                <a:lnTo>
                  <a:pt x="482259" y="2336178"/>
                </a:lnTo>
                <a:cubicBezTo>
                  <a:pt x="516201" y="2267350"/>
                  <a:pt x="537443" y="2148254"/>
                  <a:pt x="569515" y="2091909"/>
                </a:cubicBezTo>
                <a:cubicBezTo>
                  <a:pt x="629286" y="2030534"/>
                  <a:pt x="622061" y="2045605"/>
                  <a:pt x="638163" y="1994147"/>
                </a:cubicBezTo>
                <a:cubicBezTo>
                  <a:pt x="633178" y="1967912"/>
                  <a:pt x="705417" y="1945185"/>
                  <a:pt x="737312" y="1871408"/>
                </a:cubicBezTo>
                <a:cubicBezTo>
                  <a:pt x="759407" y="1814663"/>
                  <a:pt x="795838" y="1856475"/>
                  <a:pt x="788501" y="1793826"/>
                </a:cubicBezTo>
                <a:cubicBezTo>
                  <a:pt x="796402" y="1792725"/>
                  <a:pt x="813276" y="1750182"/>
                  <a:pt x="819432" y="1746824"/>
                </a:cubicBezTo>
                <a:lnTo>
                  <a:pt x="843936" y="1697348"/>
                </a:lnTo>
                <a:cubicBezTo>
                  <a:pt x="847635" y="1681502"/>
                  <a:pt x="845709" y="1667584"/>
                  <a:pt x="846526" y="1659754"/>
                </a:cubicBezTo>
                <a:lnTo>
                  <a:pt x="873830" y="1628041"/>
                </a:lnTo>
                <a:lnTo>
                  <a:pt x="890626" y="1599883"/>
                </a:lnTo>
                <a:lnTo>
                  <a:pt x="921288" y="1579569"/>
                </a:lnTo>
                <a:cubicBezTo>
                  <a:pt x="921111" y="1565502"/>
                  <a:pt x="920933" y="1551436"/>
                  <a:pt x="920756" y="1537369"/>
                </a:cubicBezTo>
                <a:cubicBezTo>
                  <a:pt x="918173" y="1533598"/>
                  <a:pt x="943194" y="1519497"/>
                  <a:pt x="946290" y="1514308"/>
                </a:cubicBezTo>
                <a:lnTo>
                  <a:pt x="932462" y="1512581"/>
                </a:lnTo>
                <a:lnTo>
                  <a:pt x="940652" y="1510839"/>
                </a:lnTo>
                <a:cubicBezTo>
                  <a:pt x="944059" y="1509546"/>
                  <a:pt x="947769" y="1507347"/>
                  <a:pt x="950739" y="1503635"/>
                </a:cubicBezTo>
                <a:lnTo>
                  <a:pt x="966405" y="1439967"/>
                </a:lnTo>
                <a:cubicBezTo>
                  <a:pt x="966567" y="1437915"/>
                  <a:pt x="970755" y="1392639"/>
                  <a:pt x="973516" y="1389073"/>
                </a:cubicBezTo>
                <a:lnTo>
                  <a:pt x="986960" y="1351857"/>
                </a:lnTo>
                <a:lnTo>
                  <a:pt x="987761" y="1363479"/>
                </a:lnTo>
                <a:cubicBezTo>
                  <a:pt x="987046" y="1391389"/>
                  <a:pt x="991418" y="1341827"/>
                  <a:pt x="989043" y="1346093"/>
                </a:cubicBezTo>
                <a:lnTo>
                  <a:pt x="986960" y="1351857"/>
                </a:lnTo>
                <a:lnTo>
                  <a:pt x="985769" y="1334556"/>
                </a:lnTo>
                <a:cubicBezTo>
                  <a:pt x="983992" y="1300062"/>
                  <a:pt x="982872" y="1251835"/>
                  <a:pt x="982507" y="1216698"/>
                </a:cubicBezTo>
                <a:cubicBezTo>
                  <a:pt x="989105" y="1176777"/>
                  <a:pt x="968656" y="1115073"/>
                  <a:pt x="984836" y="1082381"/>
                </a:cubicBezTo>
                <a:cubicBezTo>
                  <a:pt x="976467" y="1067557"/>
                  <a:pt x="974466" y="1054191"/>
                  <a:pt x="993140" y="1043366"/>
                </a:cubicBezTo>
                <a:cubicBezTo>
                  <a:pt x="994613" y="1005627"/>
                  <a:pt x="972947" y="994211"/>
                  <a:pt x="995544" y="972540"/>
                </a:cubicBezTo>
                <a:cubicBezTo>
                  <a:pt x="1001437" y="952637"/>
                  <a:pt x="1021106" y="938879"/>
                  <a:pt x="1028500" y="923945"/>
                </a:cubicBezTo>
                <a:cubicBezTo>
                  <a:pt x="1032923" y="901661"/>
                  <a:pt x="1022511" y="861628"/>
                  <a:pt x="1022082" y="838835"/>
                </a:cubicBezTo>
                <a:cubicBezTo>
                  <a:pt x="1057150" y="821053"/>
                  <a:pt x="1014683" y="811325"/>
                  <a:pt x="1025925" y="787183"/>
                </a:cubicBezTo>
                <a:cubicBezTo>
                  <a:pt x="1039299" y="775919"/>
                  <a:pt x="1041738" y="767701"/>
                  <a:pt x="1027904" y="756272"/>
                </a:cubicBezTo>
                <a:cubicBezTo>
                  <a:pt x="1092931" y="704439"/>
                  <a:pt x="1063111" y="690611"/>
                  <a:pt x="1088796" y="641639"/>
                </a:cubicBezTo>
                <a:cubicBezTo>
                  <a:pt x="1115586" y="599503"/>
                  <a:pt x="1101832" y="585408"/>
                  <a:pt x="1164389" y="545140"/>
                </a:cubicBezTo>
                <a:cubicBezTo>
                  <a:pt x="1183904" y="515341"/>
                  <a:pt x="1212474" y="444932"/>
                  <a:pt x="1225321" y="413843"/>
                </a:cubicBezTo>
                <a:cubicBezTo>
                  <a:pt x="1235550" y="389613"/>
                  <a:pt x="1230254" y="392779"/>
                  <a:pt x="1241477" y="358607"/>
                </a:cubicBezTo>
                <a:cubicBezTo>
                  <a:pt x="1244505" y="325057"/>
                  <a:pt x="1241891" y="287714"/>
                  <a:pt x="1246119" y="254866"/>
                </a:cubicBezTo>
                <a:cubicBezTo>
                  <a:pt x="1250325" y="233178"/>
                  <a:pt x="1255354" y="194919"/>
                  <a:pt x="1266837" y="161517"/>
                </a:cubicBezTo>
                <a:cubicBezTo>
                  <a:pt x="1312077" y="135871"/>
                  <a:pt x="1280314" y="75805"/>
                  <a:pt x="1315021" y="54455"/>
                </a:cubicBezTo>
                <a:cubicBezTo>
                  <a:pt x="1325412" y="38765"/>
                  <a:pt x="1323873" y="23602"/>
                  <a:pt x="1319335" y="8880"/>
                </a:cubicBezTo>
                <a:lnTo>
                  <a:pt x="1316402" y="852"/>
                </a:lnTo>
                <a:lnTo>
                  <a:pt x="1207569"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137038" y="609597"/>
            <a:ext cx="9770022" cy="1330841"/>
          </a:xfrm>
        </p:spPr>
        <p:txBody>
          <a:bodyPr>
            <a:normAutofit/>
          </a:bodyPr>
          <a:lstStyle/>
          <a:p>
            <a:r>
              <a:rPr lang="en-US"/>
              <a:t>References</a:t>
            </a:r>
          </a:p>
        </p:txBody>
      </p:sp>
      <p:sp>
        <p:nvSpPr>
          <p:cNvPr id="3" name="Content Placeholder 2"/>
          <p:cNvSpPr>
            <a:spLocks noGrp="1"/>
          </p:cNvSpPr>
          <p:nvPr>
            <p:ph idx="1"/>
          </p:nvPr>
        </p:nvSpPr>
        <p:spPr>
          <a:xfrm>
            <a:off x="1137038" y="2194100"/>
            <a:ext cx="5950970" cy="3908588"/>
          </a:xfrm>
        </p:spPr>
        <p:txBody>
          <a:bodyPr>
            <a:normAutofit/>
          </a:bodyPr>
          <a:lstStyle/>
          <a:p>
            <a:pPr>
              <a:defRPr sz="1200"/>
            </a:pPr>
            <a:r>
              <a:rPr lang="en-US" sz="1400"/>
              <a:t>American Public University System. (2024). Generative AI policy. https://www.apu.apus.edu/student-handbook/academic-integrity/generative-artificial-intelligence-policy/</a:t>
            </a:r>
          </a:p>
          <a:p>
            <a:pPr>
              <a:defRPr sz="1200"/>
            </a:pPr>
            <a:r>
              <a:rPr lang="en-US" sz="1400"/>
              <a:t>EDUCAUSE. (2023, November 7). 7 things you should know about generative AI. https://library.educause.edu/resources/2023/11/7-things-you-should-know-about-generative-ai</a:t>
            </a:r>
          </a:p>
          <a:p>
            <a:pPr>
              <a:defRPr sz="1200"/>
            </a:pPr>
            <a:r>
              <a:rPr lang="en-US" sz="1400"/>
              <a:t>UNESCO. (2023). Guidance for generative AI in education and research. https://www.unesco.org/en/articles/guidance-generative-ai-education-and-research</a:t>
            </a:r>
          </a:p>
          <a:p>
            <a:pPr>
              <a:defRPr sz="1200"/>
            </a:pPr>
            <a:r>
              <a:rPr lang="en-US" sz="1400"/>
              <a:t>World Health Organization. (2022). Ethics and governance of artificial intelligence for health. https://www.who.int/publications/i/item/9789240029200</a:t>
            </a:r>
          </a:p>
          <a:p>
            <a:pPr>
              <a:defRPr sz="1200"/>
            </a:pPr>
            <a:r>
              <a:rPr lang="en-US" sz="1400"/>
              <a:t>World Wide Web Consortium (W3C). (2023). Web Content Accessibility Guidelines (WCAG) 2.2. https://www.w3.org/TR/WCAG22/</a:t>
            </a:r>
          </a:p>
          <a:p>
            <a:pPr>
              <a:defRPr sz="1200"/>
            </a:pPr>
            <a:r>
              <a:rPr lang="en-US" sz="1400"/>
              <a:t>OpenAI. (2026). Microsoft CoPilot [Large language model]. Used for credible source research and diagram assistance.</a:t>
            </a:r>
          </a:p>
        </p:txBody>
      </p:sp>
      <p:sp>
        <p:nvSpPr>
          <p:cNvPr id="28" name="Freeform: Shape 27">
            <a:extLst>
              <a:ext uri="{FF2B5EF4-FFF2-40B4-BE49-F238E27FC236}">
                <a16:creationId xmlns:a16="http://schemas.microsoft.com/office/drawing/2014/main" id="{B7D3B4FC-79F4-47D2-9D79-DA876E6AD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0496" y="2022496"/>
            <a:ext cx="3795039" cy="4043934"/>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7" name="Graphic 6" descr="Programmer">
            <a:extLst>
              <a:ext uri="{FF2B5EF4-FFF2-40B4-BE49-F238E27FC236}">
                <a16:creationId xmlns:a16="http://schemas.microsoft.com/office/drawing/2014/main" id="{54F89D9E-31DB-FF42-7F4C-0CCA2ABA98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91362" y="2308377"/>
            <a:ext cx="3482910" cy="3482910"/>
          </a:xfrm>
          <a:prstGeom prst="rect">
            <a:avLst/>
          </a:prstGeom>
        </p:spPr>
      </p:pic>
      <p:sp>
        <p:nvSpPr>
          <p:cNvPr id="30" name="Rectangle 6">
            <a:extLst>
              <a:ext uri="{FF2B5EF4-FFF2-40B4-BE49-F238E27FC236}">
                <a16:creationId xmlns:a16="http://schemas.microsoft.com/office/drawing/2014/main" id="{2775D660-3127-4688-9782-F7C4639B1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2788" y="5952857"/>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1400</TotalTime>
  <Words>1696</Words>
  <Application>Microsoft Macintosh PowerPoint</Application>
  <PresentationFormat>Widescreen</PresentationFormat>
  <Paragraphs>93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Ethical Use of AI in Higher Education</vt:lpstr>
      <vt:lpstr>Statement of Background: Why this matters</vt:lpstr>
      <vt:lpstr>Position</vt:lpstr>
      <vt:lpstr>Proof 1: Accessibility and inclusion</vt:lpstr>
      <vt:lpstr>Proof 2: AI as support; not a replacement</vt:lpstr>
      <vt:lpstr>Proof 3: Ethical guardrails make adoption safer</vt:lpstr>
      <vt:lpstr>Refutation: Strongest counterargument and response</vt:lpstr>
      <vt:lpstr>PowerPoint Presentation</vt:lpstr>
      <vt:lpstr>Conclusion: Responsible AI in Higher Education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Jonathan Williams</dc:creator>
  <cp:keywords/>
  <dc:description/>
  <cp:lastModifiedBy>Jonathan Williams</cp:lastModifiedBy>
  <cp:revision>3</cp:revision>
  <dcterms:created xsi:type="dcterms:W3CDTF">2026-01-13T05:07:18Z</dcterms:created>
  <dcterms:modified xsi:type="dcterms:W3CDTF">2026-01-14T04:39:34Z</dcterms:modified>
  <cp:category/>
</cp:coreProperties>
</file>